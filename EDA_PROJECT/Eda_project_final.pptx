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307" r:id="rId4"/>
    <p:sldId id="259" r:id="rId5"/>
    <p:sldId id="261" r:id="rId6"/>
    <p:sldId id="297" r:id="rId7"/>
    <p:sldId id="263" r:id="rId8"/>
    <p:sldId id="293" r:id="rId9"/>
    <p:sldId id="295" r:id="rId10"/>
    <p:sldId id="299" r:id="rId11"/>
    <p:sldId id="294" r:id="rId12"/>
    <p:sldId id="292" r:id="rId13"/>
    <p:sldId id="298" r:id="rId14"/>
    <p:sldId id="267" r:id="rId15"/>
    <p:sldId id="268" r:id="rId16"/>
    <p:sldId id="303" r:id="rId17"/>
    <p:sldId id="304" r:id="rId18"/>
    <p:sldId id="305" r:id="rId19"/>
    <p:sldId id="269" r:id="rId20"/>
    <p:sldId id="288" r:id="rId21"/>
    <p:sldId id="290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15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260" y="3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44246F-0155-4F8B-9BFF-3A0F48411BCF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BDDE3-8092-4DD7-AAF8-64ABADC9E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75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BDDE3-8092-4DD7-AAF8-64ABADC9EA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43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BDDE3-8092-4DD7-AAF8-64ABADC9EAF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26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02E6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02E6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02E6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02E6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66581" y="6286573"/>
            <a:ext cx="2946400" cy="4444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41095"/>
            <a:ext cx="950785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02E6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1239" y="1921510"/>
            <a:ext cx="9464040" cy="1857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7" name="chimes.wav"/>
          </p:stSnd>
        </p:sndAc>
      </p:transition>
    </mc:Choice>
    <mc:Fallback xmlns="">
      <p:transition spd="slow">
        <p:fade/>
        <p:sndAc>
          <p:stSnd>
            <p:snd r:embed="rId9" name="chimes.wav"/>
          </p:stSnd>
        </p:sndAc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pkart.com/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092" y="0"/>
            <a:ext cx="12035816" cy="5486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3200400"/>
            <a:ext cx="10972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latin typeface="Arial Black" panose="020B0A04020102020204" pitchFamily="34" charset="0"/>
              </a:rPr>
              <a:t>Web Scraping Project TVs on Flipkart</a:t>
            </a:r>
            <a:endParaRPr sz="3200" b="1" dirty="0">
              <a:solidFill>
                <a:schemeClr val="tx2"/>
              </a:solidFill>
              <a:latin typeface="Arial Black" panose="020B0A04020102020204" pitchFamily="34" charset="0"/>
              <a:cs typeface="Trebuchet M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2B374C-8CCC-9AB1-329B-918632D1651A}"/>
              </a:ext>
            </a:extLst>
          </p:cNvPr>
          <p:cNvSpPr/>
          <p:nvPr/>
        </p:nvSpPr>
        <p:spPr>
          <a:xfrm>
            <a:off x="7391400" y="4648200"/>
            <a:ext cx="4419600" cy="1600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latin typeface="Algerian" panose="04020705040A02060702" pitchFamily="82" charset="0"/>
              </a:rPr>
              <a:t>Team Members </a:t>
            </a:r>
          </a:p>
          <a:p>
            <a:pPr algn="ctr"/>
            <a:r>
              <a:rPr lang="en-US" dirty="0" err="1">
                <a:solidFill>
                  <a:schemeClr val="accent2">
                    <a:lumMod val="10000"/>
                  </a:schemeClr>
                </a:solidFill>
              </a:rPr>
              <a:t>k.s.md.Muthaheer</a:t>
            </a:r>
            <a:r>
              <a:rPr lang="en-US" dirty="0">
                <a:solidFill>
                  <a:schemeClr val="accent2">
                    <a:lumMod val="10000"/>
                  </a:schemeClr>
                </a:solidFill>
                <a:latin typeface="Algerian" panose="04020705040A02060702" pitchFamily="82" charset="0"/>
              </a:rPr>
              <a:t>  , </a:t>
            </a:r>
          </a:p>
          <a:p>
            <a:pPr algn="ctr"/>
            <a:r>
              <a:rPr lang="en-US" dirty="0" err="1">
                <a:solidFill>
                  <a:schemeClr val="accent2">
                    <a:lumMod val="10000"/>
                  </a:schemeClr>
                </a:solidFill>
              </a:rPr>
              <a:t>T.Dinesh</a:t>
            </a:r>
            <a:r>
              <a:rPr lang="en-US" dirty="0">
                <a:solidFill>
                  <a:schemeClr val="accent2">
                    <a:lumMod val="10000"/>
                  </a:schemeClr>
                </a:solidFill>
              </a:rPr>
              <a:t> Naidu</a:t>
            </a:r>
          </a:p>
          <a:p>
            <a:pPr algn="ctr"/>
            <a:r>
              <a:rPr lang="en-US" dirty="0"/>
              <a:t>13/09/2025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8A20B9-C630-770C-D0DA-3E08200807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935" y="732377"/>
            <a:ext cx="5986956" cy="553998"/>
          </a:xfrm>
        </p:spPr>
        <p:txBody>
          <a:bodyPr/>
          <a:lstStyle/>
          <a:p>
            <a:r>
              <a:rPr lang="en-US" sz="3600" b="1" dirty="0"/>
              <a:t>PROBLEM STATEMENT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4B06323-C9F1-3A25-16D3-55A9916573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868679" y="1898392"/>
            <a:ext cx="8646921" cy="160680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28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Flipkart lists </a:t>
            </a:r>
            <a:r>
              <a:rPr lang="en-US" sz="2000" b="1" dirty="0"/>
              <a:t>thousands of TVs</a:t>
            </a:r>
            <a:r>
              <a:rPr lang="en-US" sz="2000" dirty="0"/>
              <a:t> with varying brands, prices, features, and discounts.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Consumers face </a:t>
            </a:r>
            <a:r>
              <a:rPr lang="en-US" sz="2000" b="1" dirty="0"/>
              <a:t>decision fatigue</a:t>
            </a:r>
            <a:r>
              <a:rPr lang="en-US" sz="2000" dirty="0"/>
              <a:t> because of too many options.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Businesses (retailers &amp; brands) want </a:t>
            </a:r>
            <a:r>
              <a:rPr lang="en-US" sz="2000" b="1" dirty="0"/>
              <a:t>market insights</a:t>
            </a:r>
            <a:r>
              <a:rPr lang="en-US" sz="2000" dirty="0"/>
              <a:t> to adjust pricing, discounts, and product positioning.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CCC971-FD05-2FA5-E118-BEABC39755F9}"/>
              </a:ext>
            </a:extLst>
          </p:cNvPr>
          <p:cNvSpPr txBox="1"/>
          <p:nvPr/>
        </p:nvSpPr>
        <p:spPr>
          <a:xfrm>
            <a:off x="1802378" y="362486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Use Case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E5F988F-66A0-7AF1-C538-840F97957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826538" y="4327334"/>
            <a:ext cx="8917662" cy="17982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By </a:t>
            </a:r>
            <a:r>
              <a:rPr lang="en-US" sz="2000" b="1" dirty="0"/>
              <a:t>scraping Flipkart TV data</a:t>
            </a:r>
            <a:r>
              <a:rPr lang="en-US" sz="2000" dirty="0"/>
              <a:t>, we create a structured dataset.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Dataset helps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Consumers</a:t>
            </a:r>
            <a:r>
              <a:rPr lang="en-US" sz="2000" dirty="0"/>
              <a:t> → Make better decisions (best price-to-rating products, brand comparisons).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endParaRPr lang="en-US" sz="2000" dirty="0"/>
          </a:p>
        </p:txBody>
      </p:sp>
      <p:pic>
        <p:nvPicPr>
          <p:cNvPr id="15" name="Picture 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90A749-F82C-9850-C22C-9A0027744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358" y="907636"/>
            <a:ext cx="352459" cy="352459"/>
          </a:xfrm>
          <a:prstGeom prst="rect">
            <a:avLst/>
          </a:prstGeom>
        </p:spPr>
      </p:pic>
      <p:pic>
        <p:nvPicPr>
          <p:cNvPr id="16" name="Picture 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D8C3136-2121-17D8-817E-5224F26BE2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7293" y="3712683"/>
            <a:ext cx="352459" cy="352459"/>
          </a:xfrm>
          <a:prstGeom prst="rect">
            <a:avLst/>
          </a:prstGeom>
        </p:spPr>
      </p:pic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00DAD793-0565-CA41-DB9E-455DCAF0D7D0}"/>
              </a:ext>
            </a:extLst>
          </p:cNvPr>
          <p:cNvSpPr txBox="1">
            <a:spLocks/>
          </p:cNvSpPr>
          <p:nvPr/>
        </p:nvSpPr>
        <p:spPr>
          <a:xfrm>
            <a:off x="5536305" y="6356350"/>
            <a:ext cx="987552" cy="365125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3240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3" name="chimes.wav"/>
          </p:stSnd>
        </p:sndAc>
      </p:transition>
    </mc:Choice>
    <mc:Fallback xmlns="">
      <p:transition spd="slow">
        <p:fade/>
        <p:sndAc>
          <p:stSnd>
            <p:snd r:embed="rId6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uild="p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7AB1-49E6-1711-4FC5-66BEFD767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09599" y="641095"/>
            <a:ext cx="4191000" cy="34950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17DCD-3C0C-98C0-5848-0FEED1B5E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239" y="1921510"/>
            <a:ext cx="9464040" cy="92333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Businesses</a:t>
            </a:r>
            <a:r>
              <a:rPr lang="en-US" sz="2000" dirty="0">
                <a:latin typeface="+mn-lt"/>
              </a:rPr>
              <a:t> → Identify competitors, popular screen sizes, discount strategies.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Analysts</a:t>
            </a:r>
            <a:r>
              <a:rPr lang="en-US" sz="2000" dirty="0"/>
              <a:t> → Extract insights on pricing trends, demand patterns, and features.</a:t>
            </a: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80320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F0E2548-BBCF-DF9D-39FF-0ED8423DF8A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143001"/>
            <a:ext cx="8915400" cy="615553"/>
          </a:xfrm>
        </p:spPr>
        <p:txBody>
          <a:bodyPr/>
          <a:lstStyle/>
          <a:p>
            <a:r>
              <a:rPr lang="en-IN" sz="4000" dirty="0"/>
              <a:t>: Tools &amp; Libraries For Web Scraping EDA</a:t>
            </a:r>
            <a:endParaRPr lang="en-US" sz="4000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C0503F6-6466-E999-B2C2-2CD1AFFC88E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209800" y="2388061"/>
            <a:ext cx="5867400" cy="3241894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8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/>
              <a:t>Python (3.12)+ Jupyter Notebook</a:t>
            </a:r>
          </a:p>
          <a:p>
            <a:pPr algn="just"/>
            <a:r>
              <a:rPr lang="en-US" sz="2400" b="1" i="1" dirty="0"/>
              <a:t>Python libraries </a:t>
            </a:r>
            <a:r>
              <a:rPr lang="en-US" sz="2400" i="1" dirty="0"/>
              <a:t>,</a:t>
            </a:r>
          </a:p>
          <a:p>
            <a:pPr algn="just"/>
            <a:endParaRPr lang="en-US" sz="1800" i="1" dirty="0"/>
          </a:p>
          <a:p>
            <a:r>
              <a:rPr lang="en-US" sz="2000" b="1" dirty="0"/>
              <a:t>For data extract 	:         </a:t>
            </a:r>
            <a:r>
              <a:rPr lang="en-US" sz="1800" dirty="0"/>
              <a:t>BeautifulSoup (Web Scraping), 			           requests, re (Regular Expressions), 		           pandas, NumPy.</a:t>
            </a:r>
          </a:p>
          <a:p>
            <a:endParaRPr lang="en-US" sz="1800" dirty="0"/>
          </a:p>
          <a:p>
            <a:r>
              <a:rPr lang="en-US" sz="2000" b="1" dirty="0"/>
              <a:t>For data analysis 	:          </a:t>
            </a:r>
            <a:r>
              <a:rPr lang="en-US" sz="1800" dirty="0"/>
              <a:t>Pandas , NumPy.</a:t>
            </a:r>
          </a:p>
          <a:p>
            <a:endParaRPr lang="en-US" sz="1800" dirty="0"/>
          </a:p>
          <a:p>
            <a:r>
              <a:rPr lang="en-US" sz="2000" b="1" dirty="0"/>
              <a:t>For data visualization   :    </a:t>
            </a:r>
            <a:r>
              <a:rPr lang="en-US" sz="1800" dirty="0"/>
              <a:t>Matplotlib, Seaborn.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41CB951-93B6-F0F3-19C9-9A87D8AECA80}"/>
              </a:ext>
            </a:extLst>
          </p:cNvPr>
          <p:cNvSpPr txBox="1">
            <a:spLocks/>
          </p:cNvSpPr>
          <p:nvPr/>
        </p:nvSpPr>
        <p:spPr>
          <a:xfrm>
            <a:off x="6050229" y="5954793"/>
            <a:ext cx="987552" cy="365125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5738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8060BE-FA32-A591-3ACD-1041EA6A1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324621"/>
            <a:ext cx="8421688" cy="894580"/>
          </a:xfrm>
        </p:spPr>
        <p:txBody>
          <a:bodyPr/>
          <a:lstStyle/>
          <a:p>
            <a:r>
              <a:rPr lang="en-US" b="1" dirty="0"/>
              <a:t>DATASET OVERVIEW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2051D7-D57C-322D-A078-0A70DBE4A25C}"/>
              </a:ext>
            </a:extLst>
          </p:cNvPr>
          <p:cNvSpPr txBox="1">
            <a:spLocks/>
          </p:cNvSpPr>
          <p:nvPr/>
        </p:nvSpPr>
        <p:spPr>
          <a:xfrm>
            <a:off x="2195320" y="2097341"/>
            <a:ext cx="4031945" cy="2464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DATASET SOURCE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86213A9-9A0D-BE95-676B-EAB465FB5BB9}"/>
              </a:ext>
            </a:extLst>
          </p:cNvPr>
          <p:cNvSpPr txBox="1">
            <a:spLocks/>
          </p:cNvSpPr>
          <p:nvPr/>
        </p:nvSpPr>
        <p:spPr>
          <a:xfrm>
            <a:off x="1861508" y="2560581"/>
            <a:ext cx="3962446" cy="661311"/>
          </a:xfrm>
          <a:prstGeom prst="rect">
            <a:avLst/>
          </a:prstGeom>
        </p:spPr>
        <p:txBody>
          <a:bodyPr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Scraped</a:t>
            </a:r>
            <a:r>
              <a:rPr lang="en-US" dirty="0"/>
              <a:t> data from </a:t>
            </a:r>
            <a:r>
              <a:rPr lang="en-US" b="1" dirty="0">
                <a:hlinkClick r:id="rId3"/>
              </a:rPr>
              <a:t>https://www.flipkart.com/</a:t>
            </a:r>
            <a:r>
              <a:rPr lang="en-US" b="1" dirty="0"/>
              <a:t> </a:t>
            </a:r>
            <a:r>
              <a:rPr lang="en-US" dirty="0"/>
              <a:t>using BeautifulSoup (</a:t>
            </a:r>
            <a:r>
              <a:rPr lang="en-US" sz="2000" dirty="0"/>
              <a:t>web</a:t>
            </a:r>
            <a:r>
              <a:rPr lang="en-US" dirty="0"/>
              <a:t> </a:t>
            </a:r>
            <a:r>
              <a:rPr lang="en-US" sz="2000" dirty="0"/>
              <a:t>scraping</a:t>
            </a:r>
            <a:r>
              <a:rPr lang="en-US" dirty="0"/>
              <a:t>)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E9ECD07-F74C-5925-7C59-7D3DB975B244}"/>
              </a:ext>
            </a:extLst>
          </p:cNvPr>
          <p:cNvSpPr txBox="1">
            <a:spLocks/>
          </p:cNvSpPr>
          <p:nvPr/>
        </p:nvSpPr>
        <p:spPr>
          <a:xfrm>
            <a:off x="6953346" y="2164322"/>
            <a:ext cx="4031945" cy="246411"/>
          </a:xfrm>
          <a:prstGeom prst="rect">
            <a:avLst/>
          </a:prstGeom>
        </p:spPr>
        <p:txBody>
          <a:bodyPr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DATASET SHAPE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84CC881-5E85-E817-41BE-8D37EFD8EBA1}"/>
              </a:ext>
            </a:extLst>
          </p:cNvPr>
          <p:cNvSpPr txBox="1">
            <a:spLocks/>
          </p:cNvSpPr>
          <p:nvPr/>
        </p:nvSpPr>
        <p:spPr>
          <a:xfrm>
            <a:off x="6858000" y="2636155"/>
            <a:ext cx="4031030" cy="492727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984 rows x 17 columns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38AC44-C226-AD1A-D652-8535342F71CB}"/>
              </a:ext>
            </a:extLst>
          </p:cNvPr>
          <p:cNvSpPr txBox="1">
            <a:spLocks/>
          </p:cNvSpPr>
          <p:nvPr/>
        </p:nvSpPr>
        <p:spPr>
          <a:xfrm>
            <a:off x="5120645" y="4221845"/>
            <a:ext cx="3665405" cy="246411"/>
          </a:xfrm>
          <a:prstGeom prst="rect">
            <a:avLst/>
          </a:prstGeom>
        </p:spPr>
        <p:txBody>
          <a:bodyPr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KEY COLUMNS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5E5812-B604-4279-688E-E63D35488B33}"/>
              </a:ext>
            </a:extLst>
          </p:cNvPr>
          <p:cNvSpPr txBox="1">
            <a:spLocks/>
          </p:cNvSpPr>
          <p:nvPr/>
        </p:nvSpPr>
        <p:spPr>
          <a:xfrm>
            <a:off x="3906391" y="8900475"/>
            <a:ext cx="4688966" cy="3928144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2233FF2-5E17-87DD-77D5-F3F2505F0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999" y="2193394"/>
            <a:ext cx="421755" cy="284629"/>
          </a:xfrm>
          <a:prstGeom prst="rect">
            <a:avLst/>
          </a:prstGeom>
        </p:spPr>
      </p:pic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6CDD6BD-394B-BEBA-445A-04F51FCCC0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127" y="4222254"/>
            <a:ext cx="364518" cy="246002"/>
          </a:xfrm>
          <a:prstGeom prst="rect">
            <a:avLst/>
          </a:prstGeom>
        </p:spPr>
      </p:pic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1CF000A3-C4EB-D013-D861-FCBDDF8C1C0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246411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5CE1E128-529B-442E-9BC8-3896EF505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993" y="4730843"/>
            <a:ext cx="9418546" cy="12311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i="1" dirty="0">
                <a:solidFill>
                  <a:schemeClr val="tx1"/>
                </a:solidFill>
              </a:rPr>
              <a:t>'brand', 'model', 'resolution', '</a:t>
            </a:r>
            <a:r>
              <a:rPr lang="en-US" altLang="en-US" sz="2000" i="1" dirty="0" err="1">
                <a:solidFill>
                  <a:schemeClr val="tx1"/>
                </a:solidFill>
              </a:rPr>
              <a:t>display_type</a:t>
            </a:r>
            <a:r>
              <a:rPr lang="en-US" altLang="en-US" sz="2000" i="1" dirty="0">
                <a:solidFill>
                  <a:schemeClr val="tx1"/>
                </a:solidFill>
              </a:rPr>
              <a:t>', '</a:t>
            </a:r>
            <a:r>
              <a:rPr lang="en-US" altLang="en-US" sz="2000" i="1" dirty="0" err="1">
                <a:solidFill>
                  <a:schemeClr val="tx1"/>
                </a:solidFill>
              </a:rPr>
              <a:t>smart_tv_platform</a:t>
            </a:r>
            <a:r>
              <a:rPr lang="en-US" altLang="en-US" sz="2000" i="1" dirty="0">
                <a:solidFill>
                  <a:schemeClr val="tx1"/>
                </a:solidFill>
              </a:rPr>
              <a:t>', 'ratings', '</a:t>
            </a:r>
            <a:r>
              <a:rPr lang="en-US" altLang="en-US" sz="2000" i="1" dirty="0" err="1">
                <a:solidFill>
                  <a:schemeClr val="tx1"/>
                </a:solidFill>
              </a:rPr>
              <a:t>number_of_reviews</a:t>
            </a:r>
            <a:r>
              <a:rPr lang="en-US" altLang="en-US" sz="2000" i="1" dirty="0">
                <a:solidFill>
                  <a:schemeClr val="tx1"/>
                </a:solidFill>
              </a:rPr>
              <a:t>', '</a:t>
            </a:r>
            <a:r>
              <a:rPr lang="en-US" altLang="en-US" sz="2000" i="1" dirty="0" err="1">
                <a:solidFill>
                  <a:schemeClr val="tx1"/>
                </a:solidFill>
              </a:rPr>
              <a:t>model_id</a:t>
            </a:r>
            <a:r>
              <a:rPr lang="en-US" altLang="en-US" sz="2000" i="1" dirty="0">
                <a:solidFill>
                  <a:schemeClr val="tx1"/>
                </a:solidFill>
              </a:rPr>
              <a:t>', '</a:t>
            </a:r>
            <a:r>
              <a:rPr lang="en-US" altLang="en-US" sz="2000" i="1" dirty="0" err="1">
                <a:solidFill>
                  <a:schemeClr val="tx1"/>
                </a:solidFill>
              </a:rPr>
              <a:t>launch_year</a:t>
            </a:r>
            <a:r>
              <a:rPr lang="en-US" altLang="en-US" sz="2000" i="1" dirty="0">
                <a:solidFill>
                  <a:schemeClr val="tx1"/>
                </a:solidFill>
              </a:rPr>
              <a:t>', </a:t>
            </a:r>
            <a:r>
              <a:rPr lang="en-US" altLang="en-US" sz="2000" i="1" dirty="0" err="1">
                <a:solidFill>
                  <a:schemeClr val="tx1"/>
                </a:solidFill>
              </a:rPr>
              <a:t>discounted_price</a:t>
            </a:r>
            <a:r>
              <a:rPr lang="en-US" altLang="en-US" sz="2000" i="1" dirty="0">
                <a:solidFill>
                  <a:schemeClr val="tx1"/>
                </a:solidFill>
              </a:rPr>
              <a:t>', '</a:t>
            </a:r>
            <a:r>
              <a:rPr lang="en-US" altLang="en-US" sz="2000" i="1" dirty="0" err="1">
                <a:solidFill>
                  <a:schemeClr val="tx1"/>
                </a:solidFill>
              </a:rPr>
              <a:t>original_price</a:t>
            </a:r>
            <a:r>
              <a:rPr lang="en-US" altLang="en-US" sz="2000" i="1" dirty="0">
                <a:solidFill>
                  <a:schemeClr val="tx1"/>
                </a:solidFill>
              </a:rPr>
              <a:t>', 'discount', '</a:t>
            </a:r>
            <a:r>
              <a:rPr lang="en-US" altLang="en-US" sz="2000" i="1" dirty="0" err="1">
                <a:solidFill>
                  <a:schemeClr val="tx1"/>
                </a:solidFill>
              </a:rPr>
              <a:t>offer_tagline</a:t>
            </a:r>
            <a:r>
              <a:rPr lang="en-US" altLang="en-US" sz="2000" i="1" dirty="0">
                <a:solidFill>
                  <a:schemeClr val="tx1"/>
                </a:solidFill>
              </a:rPr>
              <a:t>', </a:t>
            </a:r>
            <a:r>
              <a:rPr lang="en-US" altLang="en-US" sz="2000" i="1" dirty="0" err="1">
                <a:solidFill>
                  <a:schemeClr val="tx1"/>
                </a:solidFill>
              </a:rPr>
              <a:t>warranty_year</a:t>
            </a:r>
            <a:r>
              <a:rPr lang="en-US" altLang="en-US" sz="2000" i="1" dirty="0">
                <a:solidFill>
                  <a:schemeClr val="tx1"/>
                </a:solidFill>
              </a:rPr>
              <a:t>', '</a:t>
            </a:r>
            <a:r>
              <a:rPr lang="en-US" altLang="en-US" sz="2000" i="1" dirty="0" err="1">
                <a:solidFill>
                  <a:schemeClr val="tx1"/>
                </a:solidFill>
              </a:rPr>
              <a:t>size_cm</a:t>
            </a:r>
            <a:r>
              <a:rPr lang="en-US" altLang="en-US" sz="2000" i="1" dirty="0">
                <a:solidFill>
                  <a:schemeClr val="tx1"/>
                </a:solidFill>
              </a:rPr>
              <a:t>', '</a:t>
            </a:r>
            <a:r>
              <a:rPr lang="en-US" altLang="en-US" sz="2000" i="1" dirty="0" err="1">
                <a:solidFill>
                  <a:schemeClr val="tx1"/>
                </a:solidFill>
              </a:rPr>
              <a:t>size_inch</a:t>
            </a:r>
            <a:r>
              <a:rPr lang="en-US" altLang="en-US" sz="2000" i="1" dirty="0">
                <a:solidFill>
                  <a:schemeClr val="tx1"/>
                </a:solidFill>
              </a:rPr>
              <a:t>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i="1" dirty="0">
                <a:solidFill>
                  <a:schemeClr val="tx1"/>
                </a:solidFill>
              </a:rPr>
              <a:t>'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75ED3C8B-CB60-44E6-B580-CEFFE192E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3" y="11824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121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6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6" grpId="0" build="p"/>
      <p:bldP spid="7" grpId="0" build="p"/>
      <p:bldP spid="8" grpId="0" build="p"/>
      <p:bldP spid="9" grpId="0" build="p"/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58CE9-4A68-4695-A890-F3578259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601"/>
            <a:ext cx="13106400" cy="1354217"/>
          </a:xfrm>
        </p:spPr>
        <p:txBody>
          <a:bodyPr/>
          <a:lstStyle/>
          <a:p>
            <a:r>
              <a:rPr lang="en-US" dirty="0"/>
              <a:t> Before cleaning data</a:t>
            </a:r>
            <a:br>
              <a:rPr lang="en-US" dirty="0"/>
            </a:br>
            <a:r>
              <a:rPr lang="en-US" dirty="0"/>
              <a:t>-----------------------------------------------------------------------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80ADC-F89F-4DC5-86C6-D0727E49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381000"/>
            <a:ext cx="12115799" cy="430887"/>
          </a:xfrm>
        </p:spPr>
        <p:txBody>
          <a:bodyPr/>
          <a:lstStyle/>
          <a:p>
            <a:r>
              <a:rPr lang="en-US" b="1" dirty="0"/>
              <a:t>--------------------------------------------------------------------------------------------------------------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907FA-E419-4FF4-9359-9DAAC91CB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101" y="2300521"/>
            <a:ext cx="11705099" cy="316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02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FAE4B4-152D-758C-317F-D957E283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182" y="113488"/>
            <a:ext cx="4397489" cy="786024"/>
          </a:xfrm>
        </p:spPr>
        <p:txBody>
          <a:bodyPr/>
          <a:lstStyle/>
          <a:p>
            <a:r>
              <a:rPr lang="en-US" b="1" dirty="0"/>
              <a:t>Analyzing Data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6FA8DD-3B2B-5C1F-D32C-442268ED3E6C}"/>
              </a:ext>
            </a:extLst>
          </p:cNvPr>
          <p:cNvSpPr txBox="1">
            <a:spLocks/>
          </p:cNvSpPr>
          <p:nvPr/>
        </p:nvSpPr>
        <p:spPr>
          <a:xfrm>
            <a:off x="2293037" y="1100742"/>
            <a:ext cx="5618427" cy="4673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COLUMN CLEANING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C2F907-AE41-6B46-4A6F-CAE4F3E9A9F4}"/>
              </a:ext>
            </a:extLst>
          </p:cNvPr>
          <p:cNvSpPr txBox="1">
            <a:spLocks/>
          </p:cNvSpPr>
          <p:nvPr/>
        </p:nvSpPr>
        <p:spPr>
          <a:xfrm>
            <a:off x="584200" y="1905000"/>
            <a:ext cx="11023600" cy="5059395"/>
          </a:xfrm>
          <a:prstGeom prst="rect">
            <a:avLst/>
          </a:prstGeom>
        </p:spPr>
        <p:txBody>
          <a:bodyPr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b="1" dirty="0">
                <a:sym typeface="Wingdings" panose="05000000000000000000" pitchFamily="2" charset="2"/>
              </a:rPr>
              <a:t>Column name: </a:t>
            </a:r>
            <a:r>
              <a:rPr lang="en-IN" sz="2400" b="1" dirty="0"/>
              <a:t>discount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The </a:t>
            </a:r>
            <a:r>
              <a:rPr lang="en-IN" b="1" dirty="0"/>
              <a:t>discount</a:t>
            </a:r>
            <a:r>
              <a:rPr lang="en-US" b="1" dirty="0"/>
              <a:t> </a:t>
            </a:r>
            <a:r>
              <a:rPr lang="en-US" dirty="0"/>
              <a:t>column originally Non-numeric parts like “% off” or “Lowest Price” were cleaned → now only numeric values remain (e.g., 47).</a:t>
            </a:r>
            <a:endParaRPr lang="en-US" dirty="0">
              <a:sym typeface="Wingdings" panose="05000000000000000000" pitchFamily="2" charset="2"/>
            </a:endParaRPr>
          </a:p>
          <a:p>
            <a:pPr algn="just"/>
            <a:r>
              <a:rPr lang="en-US" sz="2400" b="1" dirty="0">
                <a:sym typeface="Wingdings" panose="05000000000000000000" pitchFamily="2" charset="2"/>
              </a:rPr>
              <a:t>Column name: </a:t>
            </a:r>
            <a:r>
              <a:rPr lang="en-IN" sz="2000" b="1" dirty="0" err="1"/>
              <a:t>size_cm</a:t>
            </a:r>
            <a:r>
              <a:rPr lang="en-IN" sz="2000" b="1" dirty="0"/>
              <a:t> &amp; </a:t>
            </a:r>
            <a:r>
              <a:rPr lang="en-IN" sz="2000" b="1" dirty="0" err="1"/>
              <a:t>size_inch</a:t>
            </a:r>
            <a:endParaRPr lang="en-IN" sz="2000" b="1" dirty="0"/>
          </a:p>
          <a:p>
            <a:pPr algn="just"/>
            <a:r>
              <a:rPr lang="en-US" sz="2000" dirty="0">
                <a:sym typeface="Wingdings" panose="05000000000000000000" pitchFamily="2" charset="2"/>
              </a:rPr>
              <a:t>The </a:t>
            </a:r>
            <a:r>
              <a:rPr lang="en-IN" sz="2000" b="1" dirty="0" err="1"/>
              <a:t>size_cm</a:t>
            </a:r>
            <a:r>
              <a:rPr lang="en-IN" sz="2000" b="1" dirty="0"/>
              <a:t> &amp; </a:t>
            </a:r>
            <a:r>
              <a:rPr lang="en-IN" sz="2000" b="1" dirty="0" err="1"/>
              <a:t>size_inch</a:t>
            </a:r>
            <a:r>
              <a:rPr lang="en-IN" sz="2000" b="1" dirty="0"/>
              <a:t> </a:t>
            </a:r>
            <a:r>
              <a:rPr lang="en-IN" sz="2000" dirty="0"/>
              <a:t>screen size of the TV in </a:t>
            </a:r>
            <a:r>
              <a:rPr lang="en-IN" sz="2000" dirty="0" err="1"/>
              <a:t>centimeters</a:t>
            </a:r>
            <a:r>
              <a:rPr lang="en-IN" sz="2000" dirty="0"/>
              <a:t>  extracted from the original text field by removing “cm” &amp; TV in inches extracted  from inside the brackets “inch”</a:t>
            </a:r>
            <a:endParaRPr lang="en-IN" sz="2000" b="1" dirty="0"/>
          </a:p>
          <a:p>
            <a:pPr algn="just"/>
            <a:endParaRPr lang="en-US" dirty="0">
              <a:sym typeface="Wingdings" panose="05000000000000000000" pitchFamily="2" charset="2"/>
            </a:endParaRPr>
          </a:p>
          <a:p>
            <a:pPr algn="just"/>
            <a:r>
              <a:rPr lang="en-US" sz="2400" b="1" dirty="0">
                <a:sym typeface="Wingdings" panose="05000000000000000000" pitchFamily="2" charset="2"/>
              </a:rPr>
              <a:t>Column name: </a:t>
            </a:r>
            <a:r>
              <a:rPr lang="en-IN" sz="2400" b="1" dirty="0" err="1"/>
              <a:t>original_price</a:t>
            </a:r>
            <a:endParaRPr lang="en-IN" sz="2400" b="1" dirty="0"/>
          </a:p>
          <a:p>
            <a:pPr algn="just"/>
            <a:r>
              <a:rPr lang="en-US" sz="2000" dirty="0">
                <a:sym typeface="Wingdings" panose="05000000000000000000" pitchFamily="2" charset="2"/>
              </a:rPr>
              <a:t>The </a:t>
            </a:r>
            <a:r>
              <a:rPr lang="en-IN" sz="2000" b="1" dirty="0" err="1"/>
              <a:t>original_price</a:t>
            </a:r>
            <a:r>
              <a:rPr lang="en-US" sz="2000" dirty="0">
                <a:sym typeface="Wingdings" panose="05000000000000000000" pitchFamily="2" charset="2"/>
              </a:rPr>
              <a:t>column contained this </a:t>
            </a:r>
            <a:r>
              <a:rPr lang="en-US" b="1" dirty="0"/>
              <a:t>₹</a:t>
            </a:r>
            <a:r>
              <a:rPr lang="en-US" dirty="0"/>
              <a:t> is a currency symbol (Indian Rupee) — not needed for calculations</a:t>
            </a:r>
          </a:p>
          <a:p>
            <a:pPr algn="just"/>
            <a:r>
              <a:rPr lang="en-US" dirty="0"/>
              <a:t>After removing ₹ and comma, we get: 13999.0 into float type</a:t>
            </a:r>
            <a:endParaRPr lang="en-US" dirty="0">
              <a:sym typeface="Wingdings" panose="05000000000000000000" pitchFamily="2" charset="2"/>
            </a:endParaRPr>
          </a:p>
          <a:p>
            <a:pPr algn="just"/>
            <a:endParaRPr lang="en-IN" dirty="0"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9D6C54-1010-E128-0361-BCB284E10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174" y="254000"/>
            <a:ext cx="509873" cy="509873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83CC029-6107-041D-CF65-436E9CD255B8}"/>
              </a:ext>
            </a:extLst>
          </p:cNvPr>
          <p:cNvSpPr txBox="1">
            <a:spLocks/>
          </p:cNvSpPr>
          <p:nvPr/>
        </p:nvSpPr>
        <p:spPr>
          <a:xfrm>
            <a:off x="2785247" y="923551"/>
            <a:ext cx="7323953" cy="11795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25709DD-FF62-01DC-CA88-E7E438CF7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803" y="1154215"/>
            <a:ext cx="388234" cy="388234"/>
          </a:xfrm>
          <a:prstGeom prst="rect">
            <a:avLst/>
          </a:prstGeom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1298D65-AB8A-7452-46BF-6646033347D6}"/>
              </a:ext>
            </a:extLst>
          </p:cNvPr>
          <p:cNvSpPr txBox="1">
            <a:spLocks/>
          </p:cNvSpPr>
          <p:nvPr/>
        </p:nvSpPr>
        <p:spPr>
          <a:xfrm>
            <a:off x="10700656" y="6356350"/>
            <a:ext cx="653143" cy="365125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0982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5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6" grpId="0" build="p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624EB0-C7BA-4422-A0F3-CDB2BE11E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8901" y="1295400"/>
            <a:ext cx="4471730" cy="53439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3525D3-D85D-4AD0-976B-AE1573A8170E}"/>
              </a:ext>
            </a:extLst>
          </p:cNvPr>
          <p:cNvSpPr txBox="1"/>
          <p:nvPr/>
        </p:nvSpPr>
        <p:spPr>
          <a:xfrm>
            <a:off x="1524000" y="609600"/>
            <a:ext cx="6097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Check Null Values</a:t>
            </a:r>
          </a:p>
        </p:txBody>
      </p:sp>
    </p:spTree>
    <p:extLst>
      <p:ext uri="{BB962C8B-B14F-4D97-AF65-F5344CB8AC3E}">
        <p14:creationId xmlns:p14="http://schemas.microsoft.com/office/powerpoint/2010/main" val="18104018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290E38-9659-4ED8-8D45-1402D8430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28886" y="1524000"/>
            <a:ext cx="5359808" cy="5333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F8DF35-1C83-4629-A233-2E206853AF41}"/>
              </a:ext>
            </a:extLst>
          </p:cNvPr>
          <p:cNvSpPr txBox="1"/>
          <p:nvPr/>
        </p:nvSpPr>
        <p:spPr>
          <a:xfrm>
            <a:off x="1758289" y="685800"/>
            <a:ext cx="6097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Summary of your </a:t>
            </a:r>
            <a:r>
              <a:rPr lang="en-US" sz="2800" b="1" dirty="0" err="1">
                <a:solidFill>
                  <a:srgbClr val="002060"/>
                </a:solidFill>
              </a:rPr>
              <a:t>DataFrame</a:t>
            </a:r>
            <a:r>
              <a:rPr lang="en-US" sz="2800" b="1" dirty="0">
                <a:solidFill>
                  <a:srgbClr val="00206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57374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A07C2-72FB-4EE4-975D-3587E192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641095"/>
            <a:ext cx="9507855" cy="1354217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Verified types using: df.info()</a:t>
            </a:r>
            <a:br>
              <a:rPr lang="en-US" b="1" dirty="0">
                <a:solidFill>
                  <a:srgbClr val="002060"/>
                </a:solidFill>
              </a:rPr>
            </a:b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A725E-E403-48F1-B166-142FAD5BC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0" y="1936750"/>
            <a:ext cx="6172200" cy="429539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34487-4EC3-4B4F-A44C-FAA92D921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7207" y="1626809"/>
            <a:ext cx="8367393" cy="485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897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C459-89EA-4EBA-8703-781B95BB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304801"/>
            <a:ext cx="4721861" cy="677108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After cleaning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008AA-E44F-43D9-9713-BBD311C95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1430000" cy="499770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57AFB8-0BB9-48E8-841E-2FA3E5E23A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143001"/>
            <a:ext cx="11887200" cy="507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696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3" name="chimes.wav"/>
          </p:stSnd>
        </p:sndAc>
      </p:transition>
    </mc:Choice>
    <mc:Fallback xmlns="">
      <p:transition spd="slow">
        <p:fade/>
        <p:sndAc>
          <p:stSnd>
            <p:snd r:embed="rId5" name="chimes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C459-89EA-4EBA-8703-781B95BB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304800"/>
            <a:ext cx="3578861" cy="677108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First 5 records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008AA-E44F-43D9-9713-BBD311C95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1337689"/>
            <a:ext cx="12039599" cy="487921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FA9A3-4C55-42B0-A8B0-70E7BEE4E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" y="1219200"/>
            <a:ext cx="12039600" cy="41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609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0DDB-488B-4136-9902-9562DF37B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641095"/>
            <a:ext cx="3655061" cy="677108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solidFill>
                  <a:srgbClr val="002060"/>
                </a:solidFill>
              </a:rPr>
              <a:t>Last 5 records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AACE-F3CE-4B73-8074-F91003D42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1447800"/>
            <a:ext cx="11887200" cy="4648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17FA5-5CE1-4659-8E7D-82F600A43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18203"/>
            <a:ext cx="12192000" cy="489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835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051D045-919B-181D-5D1C-59ACCC95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36281"/>
            <a:ext cx="4653296" cy="43517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Data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93D2E-C1D2-8ABD-E6D9-0223BD166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43315"/>
            <a:ext cx="430079" cy="430079"/>
          </a:xfrm>
          <a:prstGeom prst="rect">
            <a:avLst/>
          </a:prstGeom>
        </p:spPr>
      </p:pic>
      <p:sp>
        <p:nvSpPr>
          <p:cNvPr id="6" name="Content Placeholder 22">
            <a:extLst>
              <a:ext uri="{FF2B5EF4-FFF2-40B4-BE49-F238E27FC236}">
                <a16:creationId xmlns:a16="http://schemas.microsoft.com/office/drawing/2014/main" id="{A78EE022-6AD9-D47E-9F5B-842EFBCBBA06}"/>
              </a:ext>
            </a:extLst>
          </p:cNvPr>
          <p:cNvSpPr txBox="1">
            <a:spLocks/>
          </p:cNvSpPr>
          <p:nvPr/>
        </p:nvSpPr>
        <p:spPr>
          <a:xfrm>
            <a:off x="457200" y="5196131"/>
            <a:ext cx="11658600" cy="12443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Samsung leads with 25.2%indicating strong market presence and product volume.</a:t>
            </a:r>
          </a:p>
          <a:p>
            <a:r>
              <a:rPr lang="en-US" sz="2000" b="1" dirty="0"/>
              <a:t>LG (15.1%)</a:t>
            </a:r>
            <a:r>
              <a:rPr lang="en-US" sz="2000" dirty="0"/>
              <a:t>, </a:t>
            </a:r>
            <a:r>
              <a:rPr lang="en-US" sz="2000" b="1" dirty="0" err="1"/>
              <a:t>Coocaa</a:t>
            </a:r>
            <a:r>
              <a:rPr lang="en-US" sz="2000" b="1" dirty="0"/>
              <a:t> (11.0%)</a:t>
            </a:r>
            <a:r>
              <a:rPr lang="en-US" sz="2000" dirty="0"/>
              <a:t>, and </a:t>
            </a:r>
            <a:r>
              <a:rPr lang="en-US" sz="2000" b="1" dirty="0"/>
              <a:t>TCL (10.6%)</a:t>
            </a:r>
            <a:r>
              <a:rPr lang="en-US" sz="2000" dirty="0"/>
              <a:t> follow, forming a competitive mid-tier.</a:t>
            </a:r>
          </a:p>
          <a:p>
            <a:r>
              <a:rPr lang="en-US" sz="2000" b="1" dirty="0"/>
              <a:t>Xiaomi, Hisense, Acer, Sony, Haier, and </a:t>
            </a:r>
            <a:r>
              <a:rPr lang="en-US" sz="2000" b="1" dirty="0" err="1"/>
              <a:t>Innoq</a:t>
            </a:r>
            <a:r>
              <a:rPr lang="en-US" sz="2000" dirty="0"/>
              <a:t> each hold between </a:t>
            </a:r>
            <a:r>
              <a:rPr lang="en-US" sz="2000" b="1" dirty="0"/>
              <a:t>5% and 8%</a:t>
            </a:r>
            <a:r>
              <a:rPr lang="en-US" sz="2000" dirty="0"/>
              <a:t>, showing moderate representation.</a:t>
            </a:r>
            <a:br>
              <a:rPr lang="en-US" sz="2000" dirty="0"/>
            </a:br>
            <a:endParaRPr lang="en-US" sz="1400" dirty="0"/>
          </a:p>
          <a:p>
            <a:endParaRPr lang="en-US" sz="1400" dirty="0"/>
          </a:p>
        </p:txBody>
      </p:sp>
      <p:sp>
        <p:nvSpPr>
          <p:cNvPr id="7" name="Content Placeholder 18">
            <a:extLst>
              <a:ext uri="{FF2B5EF4-FFF2-40B4-BE49-F238E27FC236}">
                <a16:creationId xmlns:a16="http://schemas.microsoft.com/office/drawing/2014/main" id="{0994972C-510B-84C6-46C1-5CE5E9D5B160}"/>
              </a:ext>
            </a:extLst>
          </p:cNvPr>
          <p:cNvSpPr txBox="1">
            <a:spLocks/>
          </p:cNvSpPr>
          <p:nvPr/>
        </p:nvSpPr>
        <p:spPr>
          <a:xfrm>
            <a:off x="1676400" y="882252"/>
            <a:ext cx="3124093" cy="46292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002060"/>
                </a:solidFill>
              </a:rPr>
              <a:t>Pie chart analysis </a:t>
            </a:r>
          </a:p>
        </p:txBody>
      </p:sp>
      <p:sp>
        <p:nvSpPr>
          <p:cNvPr id="8" name="Content Placeholder 18">
            <a:extLst>
              <a:ext uri="{FF2B5EF4-FFF2-40B4-BE49-F238E27FC236}">
                <a16:creationId xmlns:a16="http://schemas.microsoft.com/office/drawing/2014/main" id="{0136545F-E4B9-4060-BCFD-AC4A1F64D4A3}"/>
              </a:ext>
            </a:extLst>
          </p:cNvPr>
          <p:cNvSpPr txBox="1">
            <a:spLocks/>
          </p:cNvSpPr>
          <p:nvPr/>
        </p:nvSpPr>
        <p:spPr>
          <a:xfrm>
            <a:off x="2386551" y="1661869"/>
            <a:ext cx="3124093" cy="462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BBA62E2-0D0C-0E26-74D2-88C33A7AB07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B74829-FBF7-4225-B6CA-C44924BCE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9718" y="1226165"/>
            <a:ext cx="4553381" cy="380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382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5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build="p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2">
            <a:extLst>
              <a:ext uri="{FF2B5EF4-FFF2-40B4-BE49-F238E27FC236}">
                <a16:creationId xmlns:a16="http://schemas.microsoft.com/office/drawing/2014/main" id="{8FEE60DD-CFA2-CB2E-A84B-4B71ED73451B}"/>
              </a:ext>
            </a:extLst>
          </p:cNvPr>
          <p:cNvSpPr txBox="1">
            <a:spLocks/>
          </p:cNvSpPr>
          <p:nvPr/>
        </p:nvSpPr>
        <p:spPr>
          <a:xfrm>
            <a:off x="110425" y="5505861"/>
            <a:ext cx="12115800" cy="11817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 dirty="0"/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71043BBD-334A-2D7C-4F26-01644BFD65C6}"/>
              </a:ext>
            </a:extLst>
          </p:cNvPr>
          <p:cNvSpPr txBox="1">
            <a:spLocks/>
          </p:cNvSpPr>
          <p:nvPr/>
        </p:nvSpPr>
        <p:spPr>
          <a:xfrm>
            <a:off x="2386551" y="1661869"/>
            <a:ext cx="3124093" cy="462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792BD64-FBA4-036C-AAE8-43A0C3D55868}"/>
              </a:ext>
            </a:extLst>
          </p:cNvPr>
          <p:cNvSpPr txBox="1">
            <a:spLocks/>
          </p:cNvSpPr>
          <p:nvPr/>
        </p:nvSpPr>
        <p:spPr>
          <a:xfrm>
            <a:off x="4572000" y="655106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FB353-799B-183B-2B18-5D38F5B8DC40}"/>
              </a:ext>
            </a:extLst>
          </p:cNvPr>
          <p:cNvSpPr txBox="1"/>
          <p:nvPr/>
        </p:nvSpPr>
        <p:spPr>
          <a:xfrm>
            <a:off x="228600" y="5061095"/>
            <a:ext cx="11277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 </a:t>
            </a:r>
            <a:r>
              <a:rPr lang="en-US" sz="2000" b="1" dirty="0"/>
              <a:t>highest concentration</a:t>
            </a:r>
            <a:r>
              <a:rPr lang="en-US" sz="2000" dirty="0"/>
              <a:t> of discounts falls between </a:t>
            </a:r>
            <a:r>
              <a:rPr lang="en-US" sz="2000" b="1" dirty="0"/>
              <a:t>40% and 50%</a:t>
            </a:r>
            <a:r>
              <a:rPr lang="en-US" sz="2000" dirty="0"/>
              <a:t>, forming a clear peak — suggesting this is the most common promotional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Very low discounts (0–10%)</a:t>
            </a:r>
            <a:r>
              <a:rPr lang="en-US" sz="2000" dirty="0"/>
              <a:t> and </a:t>
            </a:r>
            <a:r>
              <a:rPr lang="en-US" sz="2000" b="1" dirty="0"/>
              <a:t>extremely high discounts (70–80%)</a:t>
            </a:r>
            <a:r>
              <a:rPr lang="en-US" sz="2000" dirty="0"/>
              <a:t> are rare, indicating limited use of minimal or aggressive pricing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distribution is </a:t>
            </a:r>
            <a:r>
              <a:rPr lang="en-US" sz="2000" b="1" dirty="0"/>
              <a:t>centered and slightly skewed</a:t>
            </a:r>
            <a:r>
              <a:rPr lang="en-US" sz="2000" dirty="0"/>
              <a:t>, showing a tendency toward moderate discounts.</a:t>
            </a:r>
            <a:endParaRPr lang="en-IN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4B050E-CD38-49C7-A052-EF021B834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2375" y="153767"/>
            <a:ext cx="7710048" cy="483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81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CF5518-128A-4916-86F6-B853857C20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254" y="152400"/>
            <a:ext cx="11304288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340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3AEC27-B7DE-4F63-97F8-B7892729B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482" y="133036"/>
            <a:ext cx="10297036" cy="514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633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D94371-58A4-4F04-9E35-ACEBA9086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669242"/>
            <a:ext cx="9410700" cy="573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976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71F2FAFF-82EE-2B04-947E-B3BF6DA1E819}"/>
              </a:ext>
            </a:extLst>
          </p:cNvPr>
          <p:cNvSpPr txBox="1">
            <a:spLocks/>
          </p:cNvSpPr>
          <p:nvPr/>
        </p:nvSpPr>
        <p:spPr>
          <a:xfrm>
            <a:off x="152400" y="5029200"/>
            <a:ext cx="11413210" cy="1327151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The Mi stands out with the </a:t>
            </a:r>
            <a:r>
              <a:rPr lang="en-US" sz="2000" b="1" dirty="0"/>
              <a:t>highest average reviews</a:t>
            </a:r>
            <a:r>
              <a:rPr lang="en-US" sz="2000" dirty="0"/>
              <a:t>, indicating strong consumer interest and possibly high product satisfaction or visibility.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The </a:t>
            </a:r>
            <a:r>
              <a:rPr lang="en-US" sz="2000" b="1" dirty="0"/>
              <a:t>gradient color scheme</a:t>
            </a:r>
            <a:r>
              <a:rPr lang="en-US" sz="2000" dirty="0"/>
              <a:t> (dark purple to light blue) enhances visual clarity, with darker bars representing higher engagement levels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One plus and Thomson follow closely to forming competitive cluster of brands with consistent  customer feedback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771ED614-257E-41A2-F5C2-3BC283F8792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57AF08-4121-443A-88BC-5546BF784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2600" y="621517"/>
            <a:ext cx="7924800" cy="396240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E9B1FE49-7C3A-38EC-A1DF-AC5686B87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3895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EAB476-8380-4F9D-4127-73D437988B49}"/>
              </a:ext>
            </a:extLst>
          </p:cNvPr>
          <p:cNvSpPr txBox="1">
            <a:spLocks/>
          </p:cNvSpPr>
          <p:nvPr/>
        </p:nvSpPr>
        <p:spPr>
          <a:xfrm>
            <a:off x="1372891" y="850023"/>
            <a:ext cx="10515600" cy="5215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rgbClr val="002060"/>
                </a:solidFill>
              </a:rPr>
              <a:t>Summary of Observations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310F7-F24D-E78B-2879-065DE7D9535F}"/>
              </a:ext>
            </a:extLst>
          </p:cNvPr>
          <p:cNvSpPr txBox="1"/>
          <p:nvPr/>
        </p:nvSpPr>
        <p:spPr>
          <a:xfrm>
            <a:off x="914400" y="1676400"/>
            <a:ext cx="986467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Goal:</a:t>
            </a:r>
            <a:r>
              <a:rPr lang="en-US" sz="2000" dirty="0"/>
              <a:t> Analyze Flipkart TV listings to uncover pricing, brand, and feature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Clean Data:</a:t>
            </a:r>
            <a:r>
              <a:rPr lang="en-US" sz="2000" dirty="0"/>
              <a:t> Removed irrelevant columns and handled missing or inconsistent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Prepare Data:</a:t>
            </a:r>
            <a:r>
              <a:rPr lang="en-US" sz="2000" dirty="0"/>
              <a:t> Extracted screen size, resolution, warranty, and converted prices to numeric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Analyze:</a:t>
            </a:r>
            <a:r>
              <a:rPr lang="en-US" sz="2000" dirty="0"/>
              <a:t> Explored relationships between price, rating, brand, and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Visualize:</a:t>
            </a:r>
            <a:r>
              <a:rPr lang="en-US" sz="2000" dirty="0"/>
              <a:t> Used boxplots, histograms, and bar charts to highlight patterns and outliers..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Insights:</a:t>
            </a:r>
            <a:r>
              <a:rPr lang="en-US" sz="2000" dirty="0"/>
              <a:t> Found that 43" Smart TVs dominate, Mi offers best value, and price doesn’t guarantee high ratings.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Slide Number Placeholder 28">
            <a:extLst>
              <a:ext uri="{FF2B5EF4-FFF2-40B4-BE49-F238E27FC236}">
                <a16:creationId xmlns:a16="http://schemas.microsoft.com/office/drawing/2014/main" id="{4BCD4CA3-B64A-3EC6-6D5C-798CEEE85F2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4345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43DA79-FB48-7E01-0DE2-D460C0EB3047}"/>
              </a:ext>
            </a:extLst>
          </p:cNvPr>
          <p:cNvSpPr txBox="1"/>
          <p:nvPr/>
        </p:nvSpPr>
        <p:spPr>
          <a:xfrm>
            <a:off x="3276600" y="5867400"/>
            <a:ext cx="256150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Presented by: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10000"/>
                  </a:schemeClr>
                </a:solidFill>
              </a:rPr>
              <a:t>k.s.md.Muthaheer</a:t>
            </a:r>
            <a:r>
              <a:rPr lang="en-US" sz="2000" dirty="0">
                <a:solidFill>
                  <a:srgbClr val="FF0000"/>
                </a:solidFill>
              </a:rPr>
              <a:t> ,   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10000"/>
                  </a:schemeClr>
                </a:solidFill>
              </a:rPr>
              <a:t>T.Dinesh</a:t>
            </a:r>
            <a:r>
              <a:rPr lang="en-US" sz="2000" dirty="0">
                <a:solidFill>
                  <a:schemeClr val="accent2">
                    <a:lumMod val="10000"/>
                  </a:schemeClr>
                </a:solidFill>
              </a:rPr>
              <a:t> Naidu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7170" name="Picture 2" descr="Best Cool Thank You Design For PowerPoint Presentation">
            <a:extLst>
              <a:ext uri="{FF2B5EF4-FFF2-40B4-BE49-F238E27FC236}">
                <a16:creationId xmlns:a16="http://schemas.microsoft.com/office/drawing/2014/main" id="{9004CBE5-D0EB-147A-8B9C-DCF834A3D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1317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airplane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745</TotalTime>
  <Words>756</Words>
  <Application>Microsoft Office PowerPoint</Application>
  <PresentationFormat>Widescreen</PresentationFormat>
  <Paragraphs>84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Algerian</vt:lpstr>
      <vt:lpstr>Arial</vt:lpstr>
      <vt:lpstr>Arial Black</vt:lpstr>
      <vt:lpstr>Calibri</vt:lpstr>
      <vt:lpstr>Courier New</vt:lpstr>
      <vt:lpstr>Wingdings</vt:lpstr>
      <vt:lpstr>Office Theme</vt:lpstr>
      <vt:lpstr>Web Scraping Project TVs on Flipkart</vt:lpstr>
      <vt:lpstr>PROBLEM STATEMENT</vt:lpstr>
      <vt:lpstr>PowerPoint Presentation</vt:lpstr>
      <vt:lpstr>: Tools &amp; Libraries For Web Scraping EDA</vt:lpstr>
      <vt:lpstr>DATASET OVERVIEW</vt:lpstr>
      <vt:lpstr> Before cleaning data -----------------------------------------------------------------------</vt:lpstr>
      <vt:lpstr>Analyzing Data</vt:lpstr>
      <vt:lpstr>PowerPoint Presentation</vt:lpstr>
      <vt:lpstr>PowerPoint Presentation</vt:lpstr>
      <vt:lpstr>Verified types using: df.info() </vt:lpstr>
      <vt:lpstr>After cleaning data</vt:lpstr>
      <vt:lpstr>First 5 records</vt:lpstr>
      <vt:lpstr> Last 5 records</vt:lpstr>
      <vt:lpstr>Data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SCARPING PROJECT ON  JUST WATCH</dc:title>
  <dc:creator>Raghu Ram Aduri</dc:creator>
  <cp:lastModifiedBy>JAYA KRISHNA</cp:lastModifiedBy>
  <cp:revision>4</cp:revision>
  <dcterms:created xsi:type="dcterms:W3CDTF">2025-08-15T02:10:43Z</dcterms:created>
  <dcterms:modified xsi:type="dcterms:W3CDTF">2025-09-20T03:29:21Z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2025-08-15T00:00:00Z</vt:filetime>
  </property>
  <property fmtid="{D5CDD505-2E9C-101B-9397-08002B2CF9AE}" pid="5" name="Producer">
    <vt:lpwstr>Microsoft® PowerPoint® 2019</vt:lpwstr>
  </property>
</Properties>
</file>