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C6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27571</c:v>
                </c:pt>
                <c:pt idx="1">
                  <c:v>27415</c:v>
                </c:pt>
                <c:pt idx="2">
                  <c:v>28287</c:v>
                </c:pt>
                <c:pt idx="3">
                  <c:v>28457</c:v>
                </c:pt>
                <c:pt idx="4">
                  <c:v>28288</c:v>
                </c:pt>
                <c:pt idx="5">
                  <c:v>28938</c:v>
                </c:pt>
                <c:pt idx="6">
                  <c:v>28474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6000"/>
        </c:scaling>
        <c:delete val="0"/>
        <c:axPos val="l"/>
        <c:majorGridlines>
          <c:spPr>
            <a:ln w="6350" cap="flat">
              <a:solidFill>
                <a:srgbClr val="0F34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3460"/>
              </a:solidFill>
              <a:effectLst/>
            </c:spPr>
          </c:dPt>
          <c:dPt>
            <c:idx val="1"/>
            <c:bubble3D val="0"/>
            <c:spPr>
              <a:solidFill>
                <a:srgbClr val="FC6011"/>
              </a:solidFill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Below ₹100</c:v>
                </c:pt>
                <c:pt idx="1">
                  <c:v>₹100–199</c:v>
                </c:pt>
                <c:pt idx="2">
                  <c:v>₹200–299</c:v>
                </c:pt>
                <c:pt idx="3">
                  <c:v>₹300–499</c:v>
                </c:pt>
                <c:pt idx="4">
                  <c:v>₹500+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28347</c:v>
                </c:pt>
                <c:pt idx="1">
                  <c:v>56742</c:v>
                </c:pt>
                <c:pt idx="2">
                  <c:v>54032</c:v>
                </c:pt>
                <c:pt idx="3">
                  <c:v>42806</c:v>
                </c:pt>
                <c:pt idx="4">
                  <c:v>15503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 (₹)</c:v>
                </c:pt>
              </c:strCache>
            </c:strRef>
          </c:tx>
          <c:spPr>
            <a:solidFill>
              <a:srgbClr val="FC6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Panaji</c:v>
                  </c:pt>
                  <c:pt idx="1">
                    <c:v>Lucknow</c:v>
                  </c:pt>
                  <c:pt idx="2">
                    <c:v>Hyderabad</c:v>
                  </c:pt>
                  <c:pt idx="3">
                    <c:v>Gurgaon</c:v>
                  </c:pt>
                  <c:pt idx="4">
                    <c:v>Mumbai</c:v>
                  </c:pt>
                  <c:pt idx="5">
                    <c:v>Chandigarh</c:v>
                  </c:pt>
                  <c:pt idx="6">
                    <c:v>Delhi</c:v>
                  </c:pt>
                  <c:pt idx="7">
                    <c:v>Ahmedabad</c:v>
                  </c:pt>
                  <c:pt idx="8">
                    <c:v>Bengaluru</c:v>
                  </c:pt>
                  <c:pt idx="9">
                    <c:v>Chennai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306</c:v>
                </c:pt>
                <c:pt idx="1">
                  <c:v>306</c:v>
                </c:pt>
                <c:pt idx="2">
                  <c:v>293</c:v>
                </c:pt>
                <c:pt idx="3">
                  <c:v>287</c:v>
                </c:pt>
                <c:pt idx="4">
                  <c:v>287</c:v>
                </c:pt>
                <c:pt idx="5">
                  <c:v>279</c:v>
                </c:pt>
                <c:pt idx="6">
                  <c:v>278</c:v>
                </c:pt>
                <c:pt idx="7">
                  <c:v>277</c:v>
                </c:pt>
                <c:pt idx="8">
                  <c:v>268</c:v>
                </c:pt>
                <c:pt idx="9">
                  <c:v>265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5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C6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C601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Choco Lava Cake</c:v>
                  </c:pt>
                  <c:pt idx="1">
                    <c:v>Veg Fried Rice</c:v>
                  </c:pt>
                  <c:pt idx="2">
                    <c:v>Chicken Sausage</c:v>
                  </c:pt>
                  <c:pt idx="3">
                    <c:v>Paneer Butter Masala</c:v>
                  </c:pt>
                  <c:pt idx="4">
                    <c:v>Jeera Rice</c:v>
                  </c:pt>
                  <c:pt idx="5">
                    <c:v>Margherita Pizza</c:v>
                  </c:pt>
                  <c:pt idx="6">
                    <c:v>French Fries</c:v>
                  </c:pt>
                  <c:pt idx="7">
                    <c:v>Butter Naan</c:v>
                  </c:pt>
                  <c:pt idx="8">
                    <c:v>Margherita</c:v>
                  </c:pt>
                  <c:pt idx="9">
                    <c:v>Veggie Supreme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303</c:v>
                </c:pt>
                <c:pt idx="1">
                  <c:v>243</c:v>
                </c:pt>
                <c:pt idx="2">
                  <c:v>227</c:v>
                </c:pt>
                <c:pt idx="3">
                  <c:v>226</c:v>
                </c:pt>
                <c:pt idx="4">
                  <c:v>219</c:v>
                </c:pt>
                <c:pt idx="5">
                  <c:v>199</c:v>
                </c:pt>
                <c:pt idx="6">
                  <c:v>194</c:v>
                </c:pt>
                <c:pt idx="7">
                  <c:v>186</c:v>
                </c:pt>
                <c:pt idx="8">
                  <c:v>184</c:v>
                </c:pt>
                <c:pt idx="9">
                  <c:v>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0F34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Swiggy Consumer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Behavior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C6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197,430 Orders Tell Us About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C6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Food Delivery Habits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 |  Data Analysis &amp; Storytelling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0" y="457200"/>
            <a:ext cx="173736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502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1,97,430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0" y="9875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572768"/>
            <a:ext cx="173736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6184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₹268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13232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Dish Price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2688336"/>
            <a:ext cx="173736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73405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32186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3803904"/>
            <a:ext cx="173736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384962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32320" y="43342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KEY CONSUMER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73152" cy="173736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🍽️  Weekend = Feast 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&amp; Sunday drive the highest order volumes. Brands should push promotions on Fri evening to capture weekend appetite.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73152" cy="173736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24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 ₹100–₹299 is the Sweet Spot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55% of all orders fall in the ₹100–₹299 price band — the Indian consumer's comfort zone for delivery spending.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80360"/>
            <a:ext cx="73152" cy="173736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900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🏙️  Lucknow &amp; Hyderabad Spend Big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41071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cities like Lucknow (₹306 avg) and Hyderabad (₹293 avg) have higher spend per order than even Mumbai.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80360"/>
            <a:ext cx="73152" cy="173736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900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🍮  Choco Lava Cake Rules India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341071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ordered single dish nationwide — a cross-city, cross-cuisine crowd-pleaser that any food brand must stock.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&amp; HOW MUCH DO INDIANS ORDER?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Orders by Day of Week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Orders by Price Range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572000" y="1188720"/>
          <a:ext cx="4297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Saturdays peak at 28,938 orders — 5.5% more than Tuesdays. Weekend campaigns = higher ROI for food brands.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DOES INDIA SPEND THE MOST ON FOOD DELIVERY?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82296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91440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0" y="914400"/>
            <a:ext cx="64008" cy="114300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987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Panaji &amp; Lucknow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1252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₹306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0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spend — Tier-2 cities punching above their weight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2402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240280"/>
            <a:ext cx="64008" cy="114300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313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Hyderabad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2578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₹293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800" y="2898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culture = premium ordering behavior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56616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3566160"/>
            <a:ext cx="64008" cy="114300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3639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Bengaluru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39044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₹268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40080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order volume but moderate avg spend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280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C6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Surprising finding: Lucknow outspends Mumbai on average order value — high-spend Tier-2 cities are an untapped opportunity for premium food brands.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INDIA ACTUALLY ORDERING?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10 Most Ordered Dishes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777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Categories by Rating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234440"/>
            <a:ext cx="329184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280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Namkeen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1280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4.51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618488"/>
            <a:ext cx="3017520" cy="914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0" y="1618488"/>
            <a:ext cx="2715768" cy="9144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1965960"/>
            <a:ext cx="329184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2011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4.46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0" y="2350008"/>
            <a:ext cx="3017520" cy="914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2350008"/>
            <a:ext cx="2685593" cy="9144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0" y="2697480"/>
            <a:ext cx="329184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2743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 &amp; Wraps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2743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4.41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0" y="3081528"/>
            <a:ext cx="3017520" cy="914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3081528"/>
            <a:ext cx="2655418" cy="9144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3429000"/>
            <a:ext cx="329184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0" y="3474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Specials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3474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4.41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0" y="3813048"/>
            <a:ext cx="3017520" cy="914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3813048"/>
            <a:ext cx="2655418" cy="9144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4160520"/>
            <a:ext cx="329184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0" y="4206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McSaver Combos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0" y="4206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4.41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669280" y="4544568"/>
            <a:ext cx="3017520" cy="914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9280" y="4544568"/>
            <a:ext cx="2655418" cy="9144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800600"/>
            <a:ext cx="8595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Choco Lava Cake tops orders in a country famous for biryani — desserts are a massive, undervalued segment for food delivery brands.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Should Brands Do With This?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772400" cy="36576"/>
          </a:xfrm>
          <a:prstGeom prst="rect">
            <a:avLst/>
          </a:prstGeom>
          <a:solidFill>
            <a:srgbClr val="FC6011"/>
          </a:solidFill>
          <a:ln w="12700">
            <a:solidFill>
              <a:srgbClr val="FC6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402336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070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2070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Weekend Campaigns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7556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has peak orders. Launch promotions on Friday evening to capture intent before the weekend surge.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402336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070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12070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at ₹150–₹250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7556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₹100–₹299 band captures 57% of all orders. New menu items in this range will get maximum traction.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402336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815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25880" y="30815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Lucknow &amp; Hyderabad for Premium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6301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cities have higher avg order values than Mumbai — ideal for launching premium combos and new cuisines.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971800"/>
            <a:ext cx="402336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0815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60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30815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Double Down on Desserts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6301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 Lava Cake is #1. Dessert categories are underrated — any brand that cracks this segment wins big.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Swiggy Dataset  |  197,430 orders  |  Analysis by SQL + Python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Consumer Behavior Analysis</dc:title>
  <dc:subject>PptxGenJS Presentation</dc:subject>
  <dc:creator>PptxGenJS</dc:creator>
  <cp:lastModifiedBy>PptxGenJS</cp:lastModifiedBy>
  <cp:revision>1</cp:revision>
  <dcterms:created xsi:type="dcterms:W3CDTF">2026-02-27T10:58:39Z</dcterms:created>
  <dcterms:modified xsi:type="dcterms:W3CDTF">2026-02-27T10:58:39Z</dcterms:modified>
</cp:coreProperties>
</file>