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02C39A">
              <a:alpha val="22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 PHASE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8595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Development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Hospitality and Security Trends Dataset — Interactive Dashboard Suite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489204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74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67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  •   Dinesh   •   Sarumathi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Stage 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520440" cy="44348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2724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Dinesh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69417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941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Sarumathi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352544"/>
            <a:ext cx="2971800" cy="0"/>
          </a:xfrm>
          <a:prstGeom prst="line">
            <a:avLst/>
          </a:prstGeom>
          <a:noFill/>
          <a:ln w="12700">
            <a:solidFill>
              <a:srgbClr val="E3F1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53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809744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Hospitality and Security Trends Dataset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06240" y="1600200"/>
            <a:ext cx="7525512" cy="4434840"/>
          </a:xfrm>
          <a:prstGeom prst="roundRect">
            <a:avLst>
              <a:gd name="adj" fmla="val 1856"/>
            </a:avLst>
          </a:prstGeom>
          <a:solidFill>
            <a:srgbClr val="13322E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72000" y="1892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OBJECTIVE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203704"/>
            <a:ext cx="6793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cleaned, analysis-ready dataset from the preprocessing stage into an interactive multi-page dashboard suite that surfaces hospital network performance, quality, satisfaction, resource and innovation insights.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38328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3355848"/>
            <a:ext cx="2802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cleaned dataset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68996" y="338328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68996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444484" y="3355848"/>
            <a:ext cx="2802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 &amp; metrics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4169664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200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47488" y="4142232"/>
            <a:ext cx="2802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dashboard layout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68996" y="4169664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68996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444484" y="4142232"/>
            <a:ext cx="2802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 &amp; satisfaction visuals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495604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047488" y="4928616"/>
            <a:ext cx="2802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maps, filters &amp; Q&amp;A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968996" y="4956048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968996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444484" y="4928616"/>
            <a:ext cx="2802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insights &amp; narrative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99032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Clean Data to Dashboards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analysis-ready dataset produced in the preprocessing stage now powers 7 interactive dashboards covering the hospital network, quality &amp; risk, satisfaction drivers, resources, hospitality, patient flow and innovation trends.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404257" cy="1417320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8161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8161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3081528"/>
            <a:ext cx="12579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Cleaned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61457" y="2743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26049" y="2331720"/>
            <a:ext cx="1404257" cy="1417320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27010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2701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99201" y="3081528"/>
            <a:ext cx="12579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30306" y="2743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94898" y="2331720"/>
            <a:ext cx="1404257" cy="1417320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95859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95859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68050" y="3081528"/>
            <a:ext cx="12579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99155" y="2743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63747" y="2331720"/>
            <a:ext cx="1404257" cy="1417320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4708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4708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36899" y="3081528"/>
            <a:ext cx="12579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68005" y="2743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32597" y="2331720"/>
            <a:ext cx="1404257" cy="1417320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33557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33557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05749" y="3081528"/>
            <a:ext cx="12579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Filters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Q&amp;A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136854" y="2743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301446" y="2331720"/>
            <a:ext cx="1404257" cy="1417320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802406" y="25328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802406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74598" y="3081528"/>
            <a:ext cx="12579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705703" y="2743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870295" y="2331720"/>
            <a:ext cx="1404257" cy="1417320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371255" y="253288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371255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943447" y="3081528"/>
            <a:ext cx="125795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Suite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160520"/>
            <a:ext cx="10817352" cy="1691640"/>
          </a:xfrm>
          <a:prstGeom prst="roundRect">
            <a:avLst>
              <a:gd name="adj" fmla="val 4865"/>
            </a:avLst>
          </a:prstGeom>
          <a:solidFill>
            <a:srgbClr val="13322E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22960" y="4416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STAGE MATTERS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" y="4850892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24128" y="4782312"/>
            <a:ext cx="9765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typed, encoded and engineered fields into readable visuals and KPI cards.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" y="524408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24128" y="5175504"/>
            <a:ext cx="9765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1,600 hospital records across 10 cities into an explorable, filterable dashboard suite.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2960" y="563727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24128" y="5568696"/>
            <a:ext cx="9765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patterns in quality, satisfaction, capacity and digital adoption for decision-making.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TOOLS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Dashboard Suite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327148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8408" y="2258568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cleaned dataset as the single source for every visual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921508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" y="2852928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KPI summary cards for headline network metrics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15868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8408" y="3447288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chart types suited to each metric (bar, map, heatmap, donut, gauge)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110228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8408" y="4041648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visuals into themed dashboard pages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704588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8408" y="4636008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filters, slicers, a decomposition tree and a Q&amp;A search box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298948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8408" y="5230368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narrative call-outs and validate every number against the dataset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97880" y="1600200"/>
            <a:ext cx="5833872" cy="4434840"/>
          </a:xfrm>
          <a:prstGeom prst="roundRect">
            <a:avLst>
              <a:gd name="adj" fmla="val 1856"/>
            </a:avLst>
          </a:prstGeom>
          <a:solidFill>
            <a:srgbClr val="13322E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1856232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31343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313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862072"/>
            <a:ext cx="5193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dashboard tool — used to build every KPI card, chart, map, heatmap, decomposition tree, filter panel and the interactive Q&amp;A visual shown across the 7 dashboards.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813048"/>
            <a:ext cx="5193792" cy="0"/>
          </a:xfrm>
          <a:prstGeom prst="line">
            <a:avLst/>
          </a:prstGeom>
          <a:noFill/>
          <a:ln w="12700">
            <a:solidFill>
              <a:srgbClr val="2A4B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9959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3995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Pandas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544568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dashboard suite with the typed, encoded and feature-engineered dataset produced in the preprocessing stage.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53492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components used: KPI cards  ·  bar &amp; column charts  ·  donut charts  ·  city map  ·  heatmap matrix  ·  decomposition tree  ·  gauge  ·  filters/slicers  ·  Q&amp;A box  ·  narrative panels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OF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Network Map — India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footprint across 10 cities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" y="1636776"/>
            <a:ext cx="6789078" cy="4636008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0" descr="/mnt/user-data/uploads/1_hotspot_network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67935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6590" y="1691640"/>
            <a:ext cx="4275162" cy="4526280"/>
          </a:xfrm>
          <a:prstGeom prst="roundRect">
            <a:avLst>
              <a:gd name="adj" fmla="val 192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57758" y="1837944"/>
            <a:ext cx="3872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57758" y="2130552"/>
            <a:ext cx="1872405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30910" y="2185416"/>
            <a:ext cx="1726101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30910" y="2558491"/>
            <a:ext cx="1726101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658179" y="2130552"/>
            <a:ext cx="1872405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31331" y="2185416"/>
            <a:ext cx="1726101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12.8L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731331" y="2558491"/>
            <a:ext cx="1726101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BEDS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657758" y="2971800"/>
            <a:ext cx="1872405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30910" y="3026664"/>
            <a:ext cx="1726101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75.7 min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730910" y="3399739"/>
            <a:ext cx="1726101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658179" y="2971800"/>
            <a:ext cx="1872405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731331" y="3026664"/>
            <a:ext cx="1726101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/ 5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731331" y="3399739"/>
            <a:ext cx="1726101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657758" y="3886200"/>
            <a:ext cx="3872826" cy="0"/>
          </a:xfrm>
          <a:prstGeom prst="line">
            <a:avLst/>
          </a:prstGeom>
          <a:noFill/>
          <a:ln w="12700">
            <a:solidFill>
              <a:srgbClr val="E3F1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57758" y="4014216"/>
            <a:ext cx="3872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657758" y="437540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858926" y="4306824"/>
            <a:ext cx="36716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has the largest hospital count (329), well ahead of every other city.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7657758" y="5052060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858926" y="4983480"/>
            <a:ext cx="36716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 hospitals (40.8%) report a high wait time of 90+ minutes.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7657758" y="572871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858926" y="5660136"/>
            <a:ext cx="36716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Medium-bed hospitals show the longest average wait (79.2 min) of any bed-size group.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OF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Risk Matrix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control performance by city and hospital type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" y="1955860"/>
            <a:ext cx="7059168" cy="3997839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0" descr="/mnt/user-data/uploads/2_quality_risk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0724"/>
            <a:ext cx="6949440" cy="38881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91640"/>
            <a:ext cx="4005072" cy="45262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27848" y="183794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27848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INFECTION CTRL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793224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66376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39.2%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866376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70 SCORE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27848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65.7%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CCTV COVERAGE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793224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66376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866376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927848" y="3886200"/>
            <a:ext cx="3602736" cy="0"/>
          </a:xfrm>
          <a:prstGeom prst="line">
            <a:avLst/>
          </a:prstGeom>
          <a:noFill/>
          <a:ln w="12700">
            <a:solidFill>
              <a:srgbClr val="E3F1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27848" y="401421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27848" y="437540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29016" y="4306824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Multispeciality hospitals score highest on infection control (82.6).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7927848" y="5052060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29016" y="49834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Coimbatore Specialty hospitals score lowest (71.1), pulling the city average down to 72.4.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7927848" y="572871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29016" y="566013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hospitals post the strongest infection-control average by type (75.9).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OF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Driver Analysis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below-average patient satisfaction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" y="1636776"/>
            <a:ext cx="4947093" cy="4636008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0" descr="/mnt/user-data/uploads/3_satisfaction_driver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4837365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14605" y="1691640"/>
            <a:ext cx="6117147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815773" y="1837944"/>
            <a:ext cx="57148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15773" y="2130552"/>
            <a:ext cx="2793398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88925" y="2185416"/>
            <a:ext cx="2647094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43.6%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888925" y="2558491"/>
            <a:ext cx="2647094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BELOW-AVG SATISFACTION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737186" y="2130552"/>
            <a:ext cx="2793398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10338" y="2185416"/>
            <a:ext cx="2647094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75.7 min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810338" y="2558491"/>
            <a:ext cx="2647094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15773" y="2971800"/>
            <a:ext cx="2793398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88925" y="3026664"/>
            <a:ext cx="2647094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66.9%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888925" y="3399739"/>
            <a:ext cx="2647094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SERVICES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737186" y="2971800"/>
            <a:ext cx="2793398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810338" y="3026664"/>
            <a:ext cx="2647094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810338" y="3399739"/>
            <a:ext cx="2647094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INFECTION CTRL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815773" y="3886200"/>
            <a:ext cx="5714811" cy="0"/>
          </a:xfrm>
          <a:prstGeom prst="line">
            <a:avLst/>
          </a:prstGeom>
          <a:noFill/>
          <a:ln w="12700">
            <a:solidFill>
              <a:srgbClr val="E3F1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15773" y="4014216"/>
            <a:ext cx="57148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15773" y="437540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016941" y="4306824"/>
            <a:ext cx="55136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697 hospitals (43.6%) fall below the 3.5/5 satisfaction average.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5815773" y="5052060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16941" y="4983480"/>
            <a:ext cx="55136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drives the largest share of below-average cases — 160 hospitals (23.0%).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815773" y="572871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016941" y="5660136"/>
            <a:ext cx="55136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wait-time bracket has the most below-average-satisfaction hospitals.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OF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&amp; Digital Deployment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staffing, digital adoption and a built-in Q&amp;A explorer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" y="1751958"/>
            <a:ext cx="7059168" cy="4405644"/>
          </a:xfrm>
          <a:prstGeom prst="roundRect">
            <a:avLst>
              <a:gd name="adj" fmla="val 1868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0" descr="/mnt/user-data/uploads/4_resource_digital_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06822"/>
            <a:ext cx="6949440" cy="42959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91640"/>
            <a:ext cx="4005072" cy="45262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27848" y="183794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27848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90.7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SECURITY SCORE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793224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66376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2.89 / 5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866376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DIGITAL SCORE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27848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43.6%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ADOPTION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793224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66376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66.9%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866376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SERVICES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927848" y="3886200"/>
            <a:ext cx="3602736" cy="0"/>
          </a:xfrm>
          <a:prstGeom prst="line">
            <a:avLst/>
          </a:prstGeom>
          <a:noFill/>
          <a:ln w="12700">
            <a:solidFill>
              <a:srgbClr val="E3F1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27848" y="401421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27848" y="437540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29016" y="4306824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Madurai has the network's highest average wait time — 82.8 min across 152 hospitals.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7927848" y="5052060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29016" y="49834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is uneven: 78.4% offer contactless registration vs only 43.6% telemedicine.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7927848" y="572871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29016" y="566013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leads on overall digital health score (2.98/5); a built-in Q&amp;A box lets users ask questions directly.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5 OF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&amp; Guest Experience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Cleanliness, food service and hospitality ratings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" y="1939818"/>
            <a:ext cx="7059168" cy="4029925"/>
          </a:xfrm>
          <a:prstGeom prst="roundRect">
            <a:avLst>
              <a:gd name="adj" fmla="val 2042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0" descr="/mnt/user-data/uploads/dash5_hospit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682"/>
            <a:ext cx="6949440" cy="39201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91640"/>
            <a:ext cx="4005072" cy="45262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27848" y="183794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27848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3.50 / 5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SCORE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793224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66376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3.51 / 5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866376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CLEANLINESS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27848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3.50 / 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FOOD SERVICE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793224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66376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47.9%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866376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BELOW-AVG EXPERIENCE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927848" y="3886200"/>
            <a:ext cx="3602736" cy="0"/>
          </a:xfrm>
          <a:prstGeom prst="line">
            <a:avLst/>
          </a:prstGeom>
          <a:noFill/>
          <a:ln w="12700">
            <a:solidFill>
              <a:srgbClr val="E3F1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27848" y="401421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27848" y="437540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29016" y="4306824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Madurai leads guest experience (3.58/5); Delhi trails the network (3.42/5).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7927848" y="5052060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29016" y="49834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47.9% of hospitals sit below a 3.5 hospitality score.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7927848" y="572871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29016" y="566013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service ratings are the most consistent metric across hospital types (3.44–3.58).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6 OF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 &amp; Capacity Planning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 risk and wait times across the bed network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" y="1939818"/>
            <a:ext cx="7059168" cy="4029925"/>
          </a:xfrm>
          <a:prstGeom prst="roundRect">
            <a:avLst>
              <a:gd name="adj" fmla="val 2042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0" descr="/mnt/user-data/uploads/dash6_patient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682"/>
            <a:ext cx="6949440" cy="39201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91640"/>
            <a:ext cx="4005072" cy="45262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27848" y="183794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27848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PATIENTS / BED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793224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66376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18.4%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866376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 (&gt;3/BED)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27848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75.7 min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793224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66376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866376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BED COUNT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927848" y="3886200"/>
            <a:ext cx="3602736" cy="0"/>
          </a:xfrm>
          <a:prstGeom prst="line">
            <a:avLst/>
          </a:prstGeom>
          <a:noFill/>
          <a:ln w="12700">
            <a:solidFill>
              <a:srgbClr val="E3F1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27848" y="401421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27848" y="437540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29016" y="4306824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carries the heaviest patient load per bed (2.78) and the highest overcrowding share (23%).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7927848" y="5052060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29016" y="49834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bed-size hospitals see the longest average wait (79.2 min) of any group.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7927848" y="572871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29016" y="566013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 hospitals (18.4%) exceed 3 patients/bed, concentrated in Delhi, Mumbai and Chennai.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51176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7 OF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Technology Trend Explorer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of 8 innovation trends across the network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" y="1939818"/>
            <a:ext cx="7059168" cy="4029925"/>
          </a:xfrm>
          <a:prstGeom prst="roundRect">
            <a:avLst>
              <a:gd name="adj" fmla="val 2042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pic>
        <p:nvPicPr>
          <p:cNvPr id="7" name="Image 0" descr="/mnt/user-data/uploads/dash7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4682"/>
            <a:ext cx="6949440" cy="39201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91640"/>
            <a:ext cx="4005072" cy="45262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27848" y="183794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27848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21.9%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TREND SHARE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793224" y="2130552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66376" y="2185416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866376" y="2558491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CATEGORIES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27848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66.9%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SERVICES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793224" y="2971800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F4FAF9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66376" y="3026664"/>
            <a:ext cx="159105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2.89 / 5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866376" y="3399739"/>
            <a:ext cx="1591056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DIGITAL SCORE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927848" y="3886200"/>
            <a:ext cx="3602736" cy="0"/>
          </a:xfrm>
          <a:prstGeom prst="line">
            <a:avLst/>
          </a:prstGeom>
          <a:noFill/>
          <a:ln w="12700">
            <a:solidFill>
              <a:srgbClr val="E3F1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27848" y="4014216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27848" y="437540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29016" y="4306824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Patient-Centric Care is the leading trend (350 hospitals, 21.9%) but has the lowest AI-assisted adoption (62%).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7927848" y="5052060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29016" y="49834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 shows the highest tech sophistication — 76% AI-assisted adoption and a 3.00/5 digital score.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7927848" y="572871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129016" y="566013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and Madurai show the strongest lean toward Patient-Centric Care (26% of local hospitals each).</a:t>
            </a:r>
            <a:endParaRPr lang="en-US" sz="108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CROSS-DASHBOARD INSIGHTS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27151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1965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783080"/>
            <a:ext cx="43113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Scale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1343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has the largest hospital footprint (329) yet also drives the most below-average-satisfaction cases (23%).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03036" y="1600200"/>
            <a:ext cx="527151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1636" y="181965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31636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52844" y="1783080"/>
            <a:ext cx="43113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Pressure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31636" y="231343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carries the heaviest load per bed (2.78) and the highest overcrowding share (23%) — a priority for expansion.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527151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37413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337560"/>
            <a:ext cx="43113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Wait-Time Pattern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86791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bed-size hospitals show the longest average wait (~79 min) across every dashboard that measures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03036" y="3154680"/>
            <a:ext cx="527151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1636" y="337413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31636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52844" y="3337560"/>
            <a:ext cx="43113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Leaders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31636" y="386791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hospitals post the strongest infection-control average (75.9) among the four hospital types.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527151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92861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4892040"/>
            <a:ext cx="43113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Gap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42239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registration (78.4%) is far ahead of telemedicine adoption (43.6%) network-wide.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03036" y="4709160"/>
            <a:ext cx="527151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1636" y="49286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31636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52844" y="4892040"/>
            <a:ext cx="43113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Trend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31636" y="542239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Patient-Centric Care leads adoption (21.9%) but trails on AI-assisted services and digital score.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807208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OUTCOME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Stage Delivered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498598" cy="1371600"/>
          </a:xfrm>
          <a:prstGeom prst="roundRect">
            <a:avLst>
              <a:gd name="adj" fmla="val 6000"/>
            </a:avLst>
          </a:prstGeom>
          <a:solidFill>
            <a:srgbClr val="13322E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2498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50592"/>
            <a:ext cx="249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30118" y="1600200"/>
            <a:ext cx="2498598" cy="1371600"/>
          </a:xfrm>
          <a:prstGeom prst="roundRect">
            <a:avLst>
              <a:gd name="adj" fmla="val 6000"/>
            </a:avLst>
          </a:prstGeom>
          <a:solidFill>
            <a:srgbClr val="13322E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30118" y="1783080"/>
            <a:ext cx="2498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230118" y="2450592"/>
            <a:ext cx="249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VISUALIZED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03036" y="1600200"/>
            <a:ext cx="2498598" cy="1371600"/>
          </a:xfrm>
          <a:prstGeom prst="roundRect">
            <a:avLst>
              <a:gd name="adj" fmla="val 6000"/>
            </a:avLst>
          </a:prstGeom>
          <a:solidFill>
            <a:srgbClr val="13322E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003036" y="1783080"/>
            <a:ext cx="2498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003036" y="2450592"/>
            <a:ext cx="249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5954" y="1600200"/>
            <a:ext cx="2498598" cy="1371600"/>
          </a:xfrm>
          <a:prstGeom prst="roundRect">
            <a:avLst>
              <a:gd name="adj" fmla="val 6000"/>
            </a:avLst>
          </a:prstGeom>
          <a:solidFill>
            <a:srgbClr val="13322E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775954" y="1783080"/>
            <a:ext cx="2498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775954" y="2450592"/>
            <a:ext cx="249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VISUALS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0817352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936492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8408" y="3867912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cleaned, feature-engineered dataset from the preprocessing stage was connected directly to Power BI, with no further manual data fixes required.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485132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8408" y="4416552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themed dashboards were built — network overview, quality &amp; risk, satisfaction drivers, resource &amp; digital deployment, hospitality, patient flow and innovation trends.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5033772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8408" y="4965192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dashboard combines KPI cards, charts, maps, filters and narrative call-outs, with a decomposition tree and an interactive Q&amp;A box for deeper exploration.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582412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8408" y="5513832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data-quality note flagged 155 records (~9.7%) with out-of-range satisfaction values, which were excluded from satisfaction averages to keep the numbers reliable.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680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3F1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354580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8408" y="2286000"/>
            <a:ext cx="4416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moved from raw, inconsistent records to a live, interactive dashboard suite.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122676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" y="3054096"/>
            <a:ext cx="4416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Power BI dashboards now make network scale, quality, satisfaction, resources and innovation trends explorable at a glance.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890772"/>
            <a:ext cx="68580" cy="685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8408" y="3822192"/>
            <a:ext cx="4416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3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KPIs, filters, a decomposition tree and a Q&amp;A box turn static numbers into an analysis tool a mentor or stakeholder can explore directly.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1600200"/>
            <a:ext cx="5833872" cy="4434840"/>
          </a:xfrm>
          <a:prstGeom prst="roundRect">
            <a:avLst>
              <a:gd name="adj" fmla="val 1856"/>
            </a:avLst>
          </a:prstGeom>
          <a:solidFill>
            <a:srgbClr val="13322E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1874520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54580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9088" y="2286000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dashboard suite to the mentor / faculty panel for review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031236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9088" y="2962656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feedback and refine visuals, filters and layout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07892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9088" y="3639312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drill-through pages for individual hospital records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4384548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4315968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scheduled data refresh as new records are collected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5061204"/>
            <a:ext cx="68580" cy="685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19088" y="4992624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forecasting wait times and satisfaction trends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dashboard suite — from clean data to actionable insight.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Kunal, Dinesh, Sarumathi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2026-08-26T09:50:09Z</dcterms:created>
  <dcterms:modified xsi:type="dcterms:W3CDTF">2026-08-26T09:50:09Z</dcterms:modified>
</cp:coreProperties>
</file>