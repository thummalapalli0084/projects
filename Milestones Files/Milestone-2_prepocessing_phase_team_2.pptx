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59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of Healthcare, Hospitality and Security Trends Dataset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Hospitality and Security Trends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956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  •   Dinesh   •   Sarumathi   •   Rakesh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Main Objective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49040" cy="45720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F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96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322783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27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96" dirty="0"/>
          </a:p>
        </p:txBody>
      </p:sp>
      <p:sp>
        <p:nvSpPr>
          <p:cNvPr id="14" name="Text 12"/>
          <p:cNvSpPr/>
          <p:nvPr/>
        </p:nvSpPr>
        <p:spPr>
          <a:xfrm>
            <a:off x="1371600" y="32278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38496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9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96" dirty="0"/>
          </a:p>
        </p:txBody>
      </p:sp>
      <p:sp>
        <p:nvSpPr>
          <p:cNvPr id="17" name="Text 15"/>
          <p:cNvSpPr/>
          <p:nvPr/>
        </p:nvSpPr>
        <p:spPr>
          <a:xfrm>
            <a:off x="1371600" y="384962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Sarumathi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71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96" dirty="0"/>
          </a:p>
        </p:txBody>
      </p:sp>
      <p:sp>
        <p:nvSpPr>
          <p:cNvPr id="20" name="Text 18"/>
          <p:cNvSpPr/>
          <p:nvPr/>
        </p:nvSpPr>
        <p:spPr>
          <a:xfrm>
            <a:off x="1371600" y="447141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Hospitality and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Trends Dataset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26280" y="1737360"/>
            <a:ext cx="7223760" cy="4572000"/>
          </a:xfrm>
          <a:prstGeom prst="roundRect">
            <a:avLst>
              <a:gd name="adj" fmla="val 2400"/>
            </a:avLst>
          </a:prstGeom>
          <a:solidFill>
            <a:srgbClr val="0B2027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the raw Healthcare, Hospitality and Security Trends dataset into a cleaner, structured and analysis-ready dataset for further data visualization and analysis.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937760" y="41605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4133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46177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4617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21808" y="4590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checking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50749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handling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55321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5504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 / categorization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1605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13648" y="4133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 encoding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29600" y="46177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617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13648" y="4590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0" y="5074920"/>
            <a:ext cx="292608" cy="292608"/>
          </a:xfrm>
          <a:prstGeom prst="ellipse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1364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Preprocessing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13539" y="3337560"/>
            <a:ext cx="9734441" cy="0"/>
          </a:xfrm>
          <a:prstGeom prst="line">
            <a:avLst/>
          </a:prstGeom>
          <a:noFill/>
          <a:ln w="38100">
            <a:solidFill>
              <a:srgbClr val="CFE9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4083" y="2432304"/>
            <a:ext cx="438912" cy="43891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083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25327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6490" y="2432304"/>
            <a:ext cx="438912" cy="43891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6490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25327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47734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38897" y="2432304"/>
            <a:ext cx="438912" cy="43891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8897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7734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70141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61304" y="2432304"/>
            <a:ext cx="438912" cy="43891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0141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92547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83711" y="2432304"/>
            <a:ext cx="438912" cy="43891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3711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2547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14954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06118" y="2432304"/>
            <a:ext cx="438912" cy="43891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6118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14954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37361" y="2651760"/>
            <a:ext cx="142123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CEF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28525" y="2432304"/>
            <a:ext cx="438912" cy="43891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28525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237361" y="2907792"/>
            <a:ext cx="14212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below is demonstrated with the actual Python / Pandas code used on the Healthcare, Hospitality and Security Trends dataset.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 Observed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8424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Yes/No casing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17720" y="187452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"yes", "Yes", "YES", "No", "NO" all appear for the same binary fields.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85292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43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City values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hospital records have no City recorded at all.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72160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rating / score fields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Cleanliness_Rating, CCTV_Coverage_Percentage and Infection_Control_Score are empty for some rows.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59028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90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480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Overall_Trend labels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17720" y="448056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hospital has a trend classification filled 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545896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458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53492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raw numeric ranges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534924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Daily_Patients and wait times span very different scales, needing type checks and categorization.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are exactly what the preprocessing steps on the following slides are designed to fix.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 &amp; Inspection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20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loaded using Pandas from the Excel source file.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is used to preview the first few records and confirm the data was read correctly.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is used to understand column names, non-null counts, and current data types before cleaning.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1737360"/>
            <a:ext cx="7452360" cy="4206240"/>
          </a:xfrm>
          <a:prstGeom prst="roundRect">
            <a:avLst>
              <a:gd name="adj" fmla="val 2609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53128" y="190195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8" name="Shape 6"/>
          <p:cNvSpPr/>
          <p:nvPr/>
        </p:nvSpPr>
        <p:spPr>
          <a:xfrm>
            <a:off x="4672584" y="190195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90195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21408"/>
            <a:ext cx="699516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"healthcare hospitality and security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trends dataset(2).xlsx"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Data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5204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whole-number fields (Beds, Daily Patients, Wait Time, CCTV %, Security Staff, Infection Score) are cast to Int64.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fields (Cleanliness, Food Service, Hospitality, Satisfaction) are cast to float for decimal precision.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types prevent calculation errors and let downstream categorization and math run reliably.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1691640"/>
            <a:ext cx="7452360" cy="2103120"/>
          </a:xfrm>
          <a:prstGeom prst="roundRect">
            <a:avLst>
              <a:gd name="adj" fmla="val 5217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53128" y="185623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8" name="Shape 6"/>
          <p:cNvSpPr/>
          <p:nvPr/>
        </p:nvSpPr>
        <p:spPr>
          <a:xfrm>
            <a:off x="4672584" y="185623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85623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075688"/>
            <a:ext cx="6995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int_columns = [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"Beds", "Daily_Patients",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"Avg_Wait_Time_Min",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"CCTV_Coverage_Percentage",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"Security_Staff",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"Infection_Control_Score"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df[int_columns] = df[int_columns].astype("Int64")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3977640"/>
            <a:ext cx="7452360" cy="1965960"/>
          </a:xfrm>
          <a:prstGeom prst="roundRect">
            <a:avLst>
              <a:gd name="adj" fmla="val 5581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414223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72584" y="414223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414223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361688"/>
            <a:ext cx="6995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float_columns = [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"Cleanliness_Rating",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"Food_Service_Rating",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"Patient_Hospitality_Rating",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"Patient_Satisfaction"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df[float_columns] = df[float_columns].astype(float)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Outliers / Creating Categories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5204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deleting extreme values, meaningful bands are created using if / elif / else logic.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labeled "Unknown" rather than dropped.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(beds_category) is reused for every numeric field that needs bucketing.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1691640"/>
            <a:ext cx="7452360" cy="4297680"/>
          </a:xfrm>
          <a:prstGeom prst="roundRect">
            <a:avLst>
              <a:gd name="adj" fmla="val 2553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53128" y="185623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8" name="Shape 6"/>
          <p:cNvSpPr/>
          <p:nvPr/>
        </p:nvSpPr>
        <p:spPr>
          <a:xfrm>
            <a:off x="4672584" y="185623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85623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075688"/>
            <a:ext cx="699516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beds_category(beds):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pd.isna(beds):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"Unknown"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beds &lt; 300: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"Small"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beds &lt; 700: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"Medium"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beds &lt; 1000: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"Large"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"Very Large"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df["Beds_1"] = df["Beds"].apply(beds_category)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Categorization Applied Across Fields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categorization logic is applied to five more numeric fields, each producing a new readable category column: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40280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Daily_Patients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240280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240280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Daily_Patients_1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2240280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Very High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11247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4495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Avg_Wait_Time_Min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3044952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044952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Wait_Time_1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44952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Very High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11247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849624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CCTV_Coverage_Percentage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849624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3849624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CCTV_Coverage_1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3849624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Excellent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54296"/>
            <a:ext cx="11247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654296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Patient_Satisfaction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654296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4654296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Patient_Satisfaction_1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4654296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/ Average / Good / Excellent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458968"/>
            <a:ext cx="11247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5458968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Infection_Control_Score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5458968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09160" y="5458968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Infection_Control_1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5458968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/ Average / Good / Excellent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Categorical Variables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5623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85623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5623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75688"/>
            <a:ext cx="5074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binary_columns: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(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df[col]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.astype(str)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.str.strip()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.str.lower()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.map({"yes": 1, "no": 0})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405079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405079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405079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70248"/>
            <a:ext cx="5074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columns=["City", "Hospital_Type"],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dtype=int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fields are mapped to binary 1/0, and multi-category text fields are one-hot encoded so the model can use them numerically.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69748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FEC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EXAMPLE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324612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4215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81160" y="32461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Hospital_Type_Government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281160" y="37033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Hospital_Type_Private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81160" y="41605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3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Hospital_Type_Specialty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37960" y="4892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becomes its own 0/1 column — no ordinal meaning is implied between categories.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63540" cy="2148840"/>
          </a:xfrm>
          <a:prstGeom prst="roundRect">
            <a:avLst>
              <a:gd name="adj" fmla="val 4255"/>
            </a:avLst>
          </a:prstGeom>
          <a:solidFill>
            <a:srgbClr val="0B2027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9280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74520"/>
            <a:ext cx="4549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Per Bed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50063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df["Patients_Per_Bed"] =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df["Daily_Patients"] / df["Beds"]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hospital capacity pressure.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0780" y="1691640"/>
            <a:ext cx="5463540" cy="2148840"/>
          </a:xfrm>
          <a:prstGeom prst="roundRect">
            <a:avLst>
              <a:gd name="adj" fmla="val 4255"/>
            </a:avLst>
          </a:prstGeom>
          <a:solidFill>
            <a:srgbClr val="0B2027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9380" y="189280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69380" y="1892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99148" y="1874520"/>
            <a:ext cx="4549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Staff / 100 Beds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9380" y="2313432"/>
            <a:ext cx="50063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df["Security_Staff_Per_100_Beds"] =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(df["Security_Staff"] / df["Beds"])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9380" y="342900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security staffing across hospital sizes.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463540" cy="2148840"/>
          </a:xfrm>
          <a:prstGeom prst="roundRect">
            <a:avLst>
              <a:gd name="adj" fmla="val 4255"/>
            </a:avLst>
          </a:prstGeom>
          <a:solidFill>
            <a:srgbClr val="0B2027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43159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15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297680"/>
            <a:ext cx="4549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Score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736592"/>
            <a:ext cx="50063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df["Hospitality_Score"] =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(Cleanliness + Food_Service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Patient_Hospitality) /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85216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average score for guest experience.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0780" y="4114800"/>
            <a:ext cx="5463540" cy="2148840"/>
          </a:xfrm>
          <a:prstGeom prst="roundRect">
            <a:avLst>
              <a:gd name="adj" fmla="val 4255"/>
            </a:avLst>
          </a:prstGeom>
          <a:solidFill>
            <a:srgbClr val="0B2027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9380" y="431596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469380" y="4315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9148" y="4297680"/>
            <a:ext cx="4549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Score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9380" y="4736592"/>
            <a:ext cx="50063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df["Digital_Health_Score"] =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Contactless + Online_Appt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Telemedicine + Records +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9380" y="5852160"/>
            <a:ext cx="50063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digital services a hospital offers.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520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Hospital_ID is purely a row identifier and carries no analytical value.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Hospital_Name is also an identifying field, not a predictive or descriptive feature.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identifier columns keeps the dataset focused on variables useful for analysis and visualization.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2194560"/>
            <a:ext cx="7452360" cy="1554480"/>
          </a:xfrm>
          <a:prstGeom prst="roundRect">
            <a:avLst>
              <a:gd name="adj" fmla="val 7059"/>
            </a:avLst>
          </a:prstGeom>
          <a:solidFill>
            <a:srgbClr val="0F2E33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53128" y="2359152"/>
            <a:ext cx="118872" cy="118872"/>
          </a:xfrm>
          <a:prstGeom prst="ellipse">
            <a:avLst/>
          </a:prstGeom>
          <a:solidFill>
            <a:srgbClr val="E36049"/>
          </a:solidFill>
          <a:ln/>
        </p:spPr>
      </p:sp>
      <p:sp>
        <p:nvSpPr>
          <p:cNvPr id="8" name="Shape 6"/>
          <p:cNvSpPr/>
          <p:nvPr/>
        </p:nvSpPr>
        <p:spPr>
          <a:xfrm>
            <a:off x="4672584" y="2359152"/>
            <a:ext cx="118872" cy="118872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2359152"/>
            <a:ext cx="118872" cy="118872"/>
          </a:xfrm>
          <a:prstGeom prst="ellipse">
            <a:avLst/>
          </a:prstGeom>
          <a:solidFill>
            <a:srgbClr val="63C46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578608"/>
            <a:ext cx="6995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["Hospital_ID", "Hospital_Name"],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axis=1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3977640"/>
            <a:ext cx="7452360" cy="2011680"/>
          </a:xfrm>
          <a:prstGeom prst="roundRect">
            <a:avLst>
              <a:gd name="adj" fmla="val 5455"/>
            </a:avLst>
          </a:prstGeom>
          <a:solidFill>
            <a:srgbClr val="028090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44805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now contains typed numeric fields, readable categories, encoded variables, and engineered ratios — ready for visualization and further analysis.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00A896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structured dataset — ready for visualization and analysis.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Kunal, Dinesh, Sarumathi, Rakesh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1336</Words>
  <Application>Microsoft Office PowerPoint</Application>
  <PresentationFormat>Widescreen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kunal singh</cp:lastModifiedBy>
  <cp:revision>3</cp:revision>
  <dcterms:created xsi:type="dcterms:W3CDTF">2026-08-13T13:48:12Z</dcterms:created>
  <dcterms:modified xsi:type="dcterms:W3CDTF">2026-08-14T12:12:57Z</dcterms:modified>
</cp:coreProperties>
</file>