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1875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0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0"/>
            <a:ext cx="9034272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457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SECURITY &amp; PREDICTIVE ANALYTICS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1024128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 Dashboard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and Advanced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Security Intelligence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28346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previous Dashboard Development Phase with advanced security risk assessment,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analysis, smart alerts, performance optimisation, scenario analysis, and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threat analytics.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3675888"/>
            <a:ext cx="4023360" cy="384048"/>
          </a:xfrm>
          <a:prstGeom prst="rect">
            <a:avLst/>
          </a:prstGeom>
          <a:solidFill>
            <a:srgbClr val="13322E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758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Healthcare, Hospitality and Security Trends Dataset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537960" y="1005840"/>
            <a:ext cx="2331720" cy="1828800"/>
          </a:xfrm>
          <a:prstGeom prst="rect">
            <a:avLst/>
          </a:prstGeom>
          <a:solidFill>
            <a:srgbClr val="13322E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0972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15087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Kunal  •  Dinesh  •  Sarumathi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•  Data Analytics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322E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202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45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 •  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841248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is the continuation and extension of the previous Dashboard Development Phase. The project now advances into an advanced hospital security analytics and decision-support system.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3566160" cy="2834640"/>
          </a:xfrm>
          <a:prstGeom prst="rect">
            <a:avLst/>
          </a:prstGeom>
          <a:solidFill>
            <a:srgbClr val="E3F1E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447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Phase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7393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preprocessing and preparation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13055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development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48716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KPI creation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84378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Interactive Power BI visualisation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20040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Analysis of hospital performance and trends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50208" y="2633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89120" y="1371600"/>
            <a:ext cx="4480560" cy="2834640"/>
          </a:xfrm>
          <a:prstGeom prst="rect">
            <a:avLst/>
          </a:prstGeom>
          <a:solidFill>
            <a:srgbClr val="13322E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4447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4 Extension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26280" y="1773936"/>
            <a:ext cx="4206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Security Risk Assessment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26280" y="2075688"/>
            <a:ext cx="4206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Security Vulnerability Analysis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6280" y="2377440"/>
            <a:ext cx="4206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Resource Exposure Analysis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26280" y="2679192"/>
            <a:ext cx="4206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Smart Alert and Early Warning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26280" y="2980944"/>
            <a:ext cx="4206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Performance Optimisation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6280" y="3282696"/>
            <a:ext cx="4206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Scenario Analysis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26280" y="3584448"/>
            <a:ext cx="4206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Predictive Hospital Threat Analytics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322E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202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45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 •  OBJECTIVES &amp; METHODOLOGY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4 Objectives &amp; Workflow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237744" cy="2377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6072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hospitals with high and critical security risks.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237744" cy="2377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27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6072" y="16276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vulnerabilities and security resource exposure.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084832"/>
            <a:ext cx="237744" cy="2377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084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" y="20848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and prioritise active alerts.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542032"/>
            <a:ext cx="237744" cy="2377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5420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6072" y="25420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hospitals requiring immediate attention.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999232"/>
            <a:ext cx="237744" cy="2377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999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6072" y="29992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current and simulated risk scenarios.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456432"/>
            <a:ext cx="237744" cy="2377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456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" y="3456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relationships between security resources and operational demand.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913632"/>
            <a:ext cx="237744" cy="2377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913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6072" y="39136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predictive insights related to hospital threat levels.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868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1170432"/>
            <a:ext cx="39776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17043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83680" y="15636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1719072"/>
            <a:ext cx="39776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17190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Metrics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83680" y="21122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2267712"/>
            <a:ext cx="3977640" cy="384048"/>
          </a:xfrm>
          <a:prstGeom prst="rect">
            <a:avLst/>
          </a:prstGeom>
          <a:solidFill>
            <a:srgbClr val="0B2027"/>
          </a:solidFill>
          <a:ln w="12700">
            <a:solidFill>
              <a:srgbClr val="0B20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2677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Vulnerability Analysis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583680" y="26609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2816352"/>
            <a:ext cx="3977640" cy="384048"/>
          </a:xfrm>
          <a:prstGeom prst="rect">
            <a:avLst/>
          </a:prstGeom>
          <a:solidFill>
            <a:srgbClr val="0B2027"/>
          </a:solidFill>
          <a:ln w="12700">
            <a:solidFill>
              <a:srgbClr val="0B20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81635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Prioritisation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83680" y="32095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46320" y="3364992"/>
            <a:ext cx="39776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36499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Optimisation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83680" y="3758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46320" y="3913632"/>
            <a:ext cx="3977640" cy="384048"/>
          </a:xfrm>
          <a:prstGeom prst="rect">
            <a:avLst/>
          </a:prstGeom>
          <a:solidFill>
            <a:srgbClr val="13322E"/>
          </a:solidFill>
          <a:ln w="12700">
            <a:solidFill>
              <a:srgbClr val="1332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91363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Threat Analysis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322E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202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45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OF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Risk Assessment Dashboard</a:t>
            </a:r>
            <a:endParaRPr lang="en-US" sz="2200" dirty="0"/>
          </a:p>
        </p:txBody>
      </p:sp>
      <p:pic>
        <p:nvPicPr>
          <p:cNvPr id="6" name="Image 0" descr="f:/presentation/dashboard1_security_risk_assessment_FIX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804672"/>
            <a:ext cx="630936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29400" y="804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629400" y="107899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20840" y="114300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HOSPITALS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20840" y="13258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1,600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629400" y="167335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20840" y="173736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SECURITY RISK SCORE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720840" y="19202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34.5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629400" y="226771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20840" y="233172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 HOSPITALS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720840" y="25146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629400" y="286207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20840" y="292608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HIGH + CRITICAL RISK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720840" y="31089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11.3%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629400" y="345643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20840" y="352044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CCTV COVERAGE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720840" y="37033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65.7%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629400" y="405079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20840" y="411480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PATIENTS / GUARD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720840" y="42976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18.1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629400" y="46451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  ►  See next slide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322E"/>
          </a:solidFill>
          <a:ln/>
        </p:spPr>
      </p:sp>
      <p:sp>
        <p:nvSpPr>
          <p:cNvPr id="28" name="Text 25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202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45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OF 5  •  KEY OBSERVATIONS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Risk Assessment — Insights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3268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Heatmap &amp; Distribution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Risk Heatmap reveals risk patterns across hospital types and cities. The distribution donut shows the majority are medium-to-low risk, with 10 hospitals flagged Critical.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" y="2898648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96265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High-Risk Hospitals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3172968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H1329 holds the highest risk score (85.2), followed by H1584 (84.9) and H669 (81.7). These have CCTV as low as 33% and serve up to 2,182 daily patients.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868680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93268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CCTV Coverage by Hospital Type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37560" y="1143000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CCTV coverage is similar across types: Government (64.4%), Specialty (66.0%), Private (66.0%), and Multispeciality (66.2%). No type significantly outperforms.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46120" y="2898648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96265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Attention Table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3172968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"Hospitals Requiring Security Attention" table lists all High + Critical hospitals with city, type, CCTV %, guards, daily patients, and risk score for direct prioritisation.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63640" y="868680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93268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Filters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55080" y="1143000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Hospital Type, Security Risk Level, and CCTV Coverage sliders enable dynamic filtering to drill into specific geographies or hospital segments.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63640" y="2898648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96265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55080" y="3172968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enables security teams to immediately identify which hospitals and locations require greater security attention based on quantitative risk scoring.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322E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202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45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 OF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Vulnerability &amp; Resource Exposure Analysis</a:t>
            </a:r>
            <a:endParaRPr lang="en-US" sz="2200" dirty="0"/>
          </a:p>
        </p:txBody>
      </p:sp>
      <p:pic>
        <p:nvPicPr>
          <p:cNvPr id="6" name="Image 0" descr="f:/presentation/dashboard2_security_vulnerability_exposure_FIX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804672"/>
            <a:ext cx="630936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29400" y="804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629400" y="107899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20840" y="114300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HOSPITALS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20840" y="13258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1,600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629400" y="167335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20840" y="173736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RESOURCE INDEX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720840" y="19202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51.2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629400" y="226771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20840" y="233172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DEMAND INDEX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720840" y="25146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43.3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629400" y="286207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20840" y="292608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EXPOSURE HOSPITALS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720840" y="31089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382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629400" y="345643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20840" y="352044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CRITICAL EXPOSURE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720840" y="37033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23.9%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629400" y="405079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20840" y="411480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+ HIGH VULNERABILITY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720840" y="42976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629400" y="46451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  ►  See next slide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322E"/>
          </a:solidFill>
          <a:ln/>
        </p:spPr>
      </p:sp>
      <p:sp>
        <p:nvSpPr>
          <p:cNvPr id="28" name="Text 25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202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45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 OF 5  •  KEY OBSERVATIONS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Vulnerability &amp; Resource Exposure — Insights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3268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vs. Demand Exposure Map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scatter plot maps Security Resource Index vs Operational Demand Index. Hospitals with high demand and low resources are Critical Exposure — 382 hospitals (23.9%).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" y="2898648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96265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Exposure by City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3172968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(28.4%) and Chennai (27.5%) have the highest proportion of critically exposed hospitals, followed by Hyderabad (24.6%) and Coimbatore (23.7%).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868680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93268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CCTV Coverage vs. Security Staff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37560" y="1143000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hospital types, avg CCTV (~60%) and security staff levels are consistent, yet exposure remains high — suggesting demand outpacing security capacity.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46120" y="2898648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96265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Vulnerable Hospitals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3172968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Care Hospital 1584 has the highest vulnerability score (85.8) with demand index 99.6 and only 33% CCTV. Chennai Care Hospital 669 follows at 83.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63640" y="868680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93268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Driver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55080" y="1143000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vulnerability increases when operational demand is high and security resources (CCTV, guards) are insufficient — making demand-adjusted resource planning essential.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63640" y="2898648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96265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55080" y="3172968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exposes the gap between security resources available and operational demand, identifying hospitals most at risk from resource-demand mismatches.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322E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202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45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 OF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Alert &amp; Early Warning Center</a:t>
            </a:r>
            <a:endParaRPr lang="en-US" sz="2200" dirty="0"/>
          </a:p>
        </p:txBody>
      </p:sp>
      <p:pic>
        <p:nvPicPr>
          <p:cNvPr id="6" name="Image 0" descr="f:/presentation/dashboard3_smart_alert_early_warning_FIX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804672"/>
            <a:ext cx="630936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29400" y="804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629400" y="107899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20840" y="114300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HOSPITALS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20840" y="13258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1,600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629400" y="167335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20840" y="173736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ACTIVE ALERTS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720840" y="19202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1,209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629400" y="226771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20840" y="233172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PRIORITY (P1)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720840" y="25146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629400" y="286207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20840" y="292608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PRIORITY (P2)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720840" y="31089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219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629400" y="345643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20840" y="352044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HOSPITALS WITH ALERTS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720840" y="37033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58.6%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629400" y="405079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20840" y="411480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ALERTS / HOSPITAL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720840" y="42976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629400" y="46451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  ►  See next slide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322E"/>
          </a:solidFill>
          <a:ln/>
        </p:spPr>
      </p:sp>
      <p:sp>
        <p:nvSpPr>
          <p:cNvPr id="28" name="Text 25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202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45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 OF 5  •  KEY OBSERVATIONS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Alert &amp; Early Warning — Insights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3268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Severity by City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leads all cities with the highest total alert count (~325). Alert severity is stacked across Normal, Watch, Elevated, and Critical categories.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" y="2898648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96265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Level Distribution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3172968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No Action (662), P3 Monitor (693), P2 Same Week (219), P1 Immediate (26). The 26 P1 hospitals require immediate management response.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868680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93268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Alerts by Type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37560" y="1143000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alerts are the largest category (616, 38.5%), followed by Capacity (400, 25.0%), Security (106, 6.6%), and Operational (87, 5.4%).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46120" y="2898648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96265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Priority Worklist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3172968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P1 worklist identifies 26 hospitals requiring immediate action, showing city, type, alert categories (typically Operational, Capacity, Quality), and active alert count.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63640" y="868680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93268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Warning Value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55080" y="1143000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enables proactive management by surfacing hospitals before escalation — 693 P3 hospitals can be monitored before reaching Critical (P1) status.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63640" y="2898648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96265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55080" y="3172968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Alert Center supports early warning and prioritisation. Teams can use the worklist and filters to direct attention to hospitals requiring the most urgent intervention.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322E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202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45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4 OF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Optimisation &amp; Scenario Analysis</a:t>
            </a:r>
            <a:endParaRPr lang="en-US" sz="2200" dirty="0"/>
          </a:p>
        </p:txBody>
      </p:sp>
      <p:pic>
        <p:nvPicPr>
          <p:cNvPr id="6" name="Image 0" descr="f:/presentation/dashboard4_performance_optimization_scenario_FIX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804672"/>
            <a:ext cx="630936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29400" y="804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629400" y="107899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20840" y="114300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AVG RISK SCORE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20840" y="13258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34.5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629400" y="167335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20840" y="173736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AVG RISK SCORE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720840" y="19202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28.2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629400" y="226771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20840" y="233172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IMPROVEMENT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720840" y="25146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−6.3 pts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629400" y="286207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20840" y="292608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RISK IMPROVEMENT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720840" y="31089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18.2%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629400" y="345643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20840" y="352044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CRITICAL HOSPITALS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720840" y="37033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629400" y="405079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20840" y="411480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CRITICAL HOSPITALS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720840" y="42976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6629400" y="4599432"/>
            <a:ext cx="2331720" cy="2286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29400" y="45994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Scenario-based simulation — not a time-series forecast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322E"/>
          </a:solidFill>
          <a:ln/>
        </p:spPr>
      </p:sp>
      <p:sp>
        <p:nvSpPr>
          <p:cNvPr id="29" name="Text 26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202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45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4 OF 5  •  KEY OBSERVATIONS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Optimisation &amp; Scenario Analysis — Insights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3268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Parameters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adjustable factors: Security Staff Increase (+20%), CCTV Coverage Improvement (+15pp), and Patient Load Change (+10%). These can be tuned interactively via sliders.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" y="2898648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96265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Score Bridge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3172968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waterfall chart shows: CCTV Effect (−6.1), Staff Effect (−1.5), Patient Load Effect (+1.4). Net result: average risk reduces from 34.5 → 28.2.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868680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93268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Level Mix Shift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37560" y="1143000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hospitals reduce from 10 to 2, and the Low risk share increases substantially in the simulated scenario vs. current state.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46120" y="2898648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96265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by Hospital Type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3172968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types show improvement: Government (33.9→27.5), Multispeciality (35.2→28.9), Private (34.3→28.0), Specialty (34.5→28.3) — broad-based potential.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63640" y="868680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93268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Improvement Hospitals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55080" y="1143000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Care Hospital 1584 shows the largest improvement (84.9→75.2, −9.6 pts), followed by Delhi Care Hospital 329 and Jaipur Care Hospital 889 (both −9.5 pts).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63640" y="2898648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96265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Important Note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55080" y="3172968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is entirely scenario-based and represents simulated outcomes under defined parameter changes. It is NOT a time-series forecast. The dataset has no historical date fields.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322E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202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45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5 OF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Hospital Threat Analytics</a:t>
            </a:r>
            <a:endParaRPr lang="en-US" sz="2200" dirty="0"/>
          </a:p>
        </p:txBody>
      </p:sp>
      <p:pic>
        <p:nvPicPr>
          <p:cNvPr id="6" name="Image 0" descr="f:/presentation/dashboard1_predictive_risk_FIX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804672"/>
            <a:ext cx="630936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29400" y="804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629400" y="107899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20840" y="114300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MONITORED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20840" y="13258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1,600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629400" y="167335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20840" y="173736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PREDICTIVE RISK SCORE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720840" y="19202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43.9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629400" y="226771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20840" y="233172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 HOSPITALS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720840" y="25146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165 (10.3%)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629400" y="286207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20840" y="292608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HOSPITALS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720840" y="31089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237 (14.8%)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629400" y="345643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20840" y="352044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SECURITY EXPOSURE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720840" y="37033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48.9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629400" y="405079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20840" y="411480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OPERATIONAL STRESS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720840" y="42976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39.0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629400" y="46451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  ►  See next slide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322E"/>
          </a:solidFill>
          <a:ln/>
        </p:spPr>
      </p:sp>
      <p:sp>
        <p:nvSpPr>
          <p:cNvPr id="28" name="Text 25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202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45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5 OF 5  •  KEY OBSERVATIONS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Hospital Threat Analytics — Insights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3268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Intelligence Quadrant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scatter maps Security Exposure Score vs Operational Stress Score into four zones: Stable (green), Security Concern (orange), Operational Concern (blue), Critical (red). Bubble size = Daily Patients.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" y="2898648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96265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Distribution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3172968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(798), Medium (400), High (237), Critical (165). Together, High + Critical account for 25.1% of the network — 402 hospitals requiring priority attention.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868680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93268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High-Risk Hospitals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37560" y="1143000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H00669 (Delhi, 88.2) leads, followed by H00487 (Delhi, 84.0) and H00333 (Madurai, 80.0). Delhi and Bengaluru account for the most high-risk hospitals.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46120" y="2898648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96265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Drivers (Correlation)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3172968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Patients (+0.81) and Patients/Bed (+0.50) are the strongest positive risk drivers. CCTV Coverage (−0.33) and Security Staff (−0.24) negatively correlate — more resources reduce risk.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63640" y="868680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93268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Risk Detail Table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55080" y="1143000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detailed table provides hospital ID, name, city, type, predictive risk score, security exposure, operational stress, and category for data-driven management prioritisation.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63640" y="2898648"/>
            <a:ext cx="2816352" cy="1874520"/>
          </a:xfrm>
          <a:prstGeom prst="rect">
            <a:avLst/>
          </a:prstGeom>
          <a:solidFill>
            <a:srgbClr val="E3F1E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96265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55080" y="3172968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analyses relationships between CCTV, security staffing, daily patient load, wait time, and operational stress to understand patterns associated with different threat levels.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322E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202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45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CROSS-DASHBOARD INSIGHTS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Security Intelligence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2743200" cy="1719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9601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9601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Risk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307592"/>
            <a:ext cx="25237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and critical risk hospitals are identified through security scores and risk-level analysis across all hospital types and cities.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868680"/>
            <a:ext cx="2743200" cy="1719072"/>
          </a:xfrm>
          <a:prstGeom prst="rect">
            <a:avLst/>
          </a:prstGeom>
          <a:solidFill>
            <a:srgbClr val="0B2027"/>
          </a:solidFill>
          <a:ln w="12700">
            <a:solidFill>
              <a:srgbClr val="0B20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9601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9601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&amp; Exposure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64408" y="1307592"/>
            <a:ext cx="25237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with high demand and limited resources may experience greater security exposure — resource-demand alignment is critical.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0760" y="868680"/>
            <a:ext cx="2743200" cy="1719072"/>
          </a:xfrm>
          <a:prstGeom prst="rect">
            <a:avLst/>
          </a:prstGeom>
          <a:solidFill>
            <a:srgbClr val="13322E"/>
          </a:solidFill>
          <a:ln w="12700">
            <a:solidFill>
              <a:srgbClr val="1332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0488" y="9601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9601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Alerts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90488" y="1307592"/>
            <a:ext cx="25237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early warning system helps prioritise alerts by type and severity, directing attention to the 26 P1-critical hospitals first.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2743200"/>
            <a:ext cx="2743200" cy="1719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28346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28346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Analysis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" y="3182112"/>
            <a:ext cx="25237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changes in security staff (+20%), CCTV (+15pp), and patient load (+10%) demonstrate an 18.2% potential risk reduction.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54680" y="2743200"/>
            <a:ext cx="2743200" cy="1719072"/>
          </a:xfrm>
          <a:prstGeom prst="rect">
            <a:avLst/>
          </a:prstGeom>
          <a:solidFill>
            <a:srgbClr val="0B2027"/>
          </a:solidFill>
          <a:ln w="12700">
            <a:solidFill>
              <a:srgbClr val="0B20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28346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49040" y="28346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Threat Analysis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64408" y="3182112"/>
            <a:ext cx="25237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and security factors — patient load, wait time, CCTV, staff — are analysed together to understand threat patterns.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80760" y="2743200"/>
            <a:ext cx="2743200" cy="1719072"/>
          </a:xfrm>
          <a:prstGeom prst="rect">
            <a:avLst/>
          </a:prstGeom>
          <a:solidFill>
            <a:srgbClr val="13322E"/>
          </a:solidFill>
          <a:ln w="12700">
            <a:solidFill>
              <a:srgbClr val="1332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0488" y="28346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28346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Support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90488" y="3182112"/>
            <a:ext cx="25237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dashboard suite supports proactive, data-driven security decision-making across 1,600 hospitals in 10 cities.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322E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202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45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&amp; OUTCOME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Milestone 4 Delivered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1938528" cy="749808"/>
          </a:xfrm>
          <a:prstGeom prst="rect">
            <a:avLst/>
          </a:prstGeom>
          <a:solidFill>
            <a:srgbClr val="0B2027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8696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28600" y="131673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Analysed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04872" y="841248"/>
            <a:ext cx="1938528" cy="749808"/>
          </a:xfrm>
          <a:prstGeom prst="rect">
            <a:avLst/>
          </a:prstGeom>
          <a:solidFill>
            <a:srgbClr val="0B2027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4872" y="88696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04872" y="131673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Covered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81144" y="841248"/>
            <a:ext cx="1938528" cy="749808"/>
          </a:xfrm>
          <a:prstGeom prst="rect">
            <a:avLst/>
          </a:prstGeom>
          <a:solidFill>
            <a:srgbClr val="0B2027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1144" y="88696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81144" y="131673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Built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757416" y="841248"/>
            <a:ext cx="1938528" cy="749808"/>
          </a:xfrm>
          <a:prstGeom prst="rect">
            <a:avLst/>
          </a:prstGeom>
          <a:solidFill>
            <a:srgbClr val="0B2027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57416" y="88696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757416" y="131673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Visuals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1737360"/>
            <a:ext cx="4114800" cy="2926080"/>
          </a:xfrm>
          <a:prstGeom prst="rect">
            <a:avLst/>
          </a:prstGeom>
          <a:solidFill>
            <a:srgbClr val="E3F1E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8105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SECURITY ANALYSIS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0939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Security Risk Assessment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4323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Vulnerability &amp; Resource Exposure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27706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Smart Alert System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1089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Early Warning Analysis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4472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Performance Optimisation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7856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Scenario Analysis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1239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Predictive Threat Analytics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1737360"/>
            <a:ext cx="4343400" cy="2926080"/>
          </a:xfrm>
          <a:prstGeom prst="rect">
            <a:avLst/>
          </a:prstGeom>
          <a:solidFill>
            <a:srgbClr val="13322E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81051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9160" y="2103120"/>
            <a:ext cx="4069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extends the existing dashboard development work into an advanced hospital security analytics and decision-support system.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now provides: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Identification  →  Vulnerability Monitoring  →  Alert Prioritisation  →  Scenario Analysis  →  Predictive Insights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322E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0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0"/>
            <a:ext cx="9034272" cy="8046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4 — Summary &amp; Conclusion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successfully extends the previous dashboard development work into a more advanced security intelligence and analytical framework.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HAS EVOLVED THROUGH: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773936"/>
            <a:ext cx="132588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7393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55064" y="1837944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0" y="1773936"/>
            <a:ext cx="1325880" cy="420624"/>
          </a:xfrm>
          <a:prstGeom prst="rect">
            <a:avLst/>
          </a:prstGeom>
          <a:solidFill>
            <a:srgbClr val="13322E"/>
          </a:solidFill>
          <a:ln w="12700">
            <a:solidFill>
              <a:srgbClr val="1332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177393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63824" y="1837944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1773936"/>
            <a:ext cx="132588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77393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Visualisation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72584" y="1837944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773936"/>
            <a:ext cx="1325880" cy="420624"/>
          </a:xfrm>
          <a:prstGeom prst="rect">
            <a:avLst/>
          </a:prstGeom>
          <a:solidFill>
            <a:srgbClr val="13322E"/>
          </a:solidFill>
          <a:ln w="12700">
            <a:solidFill>
              <a:srgbClr val="1332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77393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 Analysis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81344" y="1837944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55080" y="1773936"/>
            <a:ext cx="132588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77393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690104" y="1837944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863840" y="1773936"/>
            <a:ext cx="1325880" cy="420624"/>
          </a:xfrm>
          <a:prstGeom prst="rect">
            <a:avLst/>
          </a:prstGeom>
          <a:solidFill>
            <a:srgbClr val="13322E"/>
          </a:solidFill>
          <a:ln w="12700">
            <a:solidFill>
              <a:srgbClr val="1332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0" y="177393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Threat Intelligence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0040" y="23408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DEVELOPED DASHBOARDS PROVIDE A UNIFIED VIEW OF: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2633472"/>
            <a:ext cx="1298448" cy="365760"/>
          </a:xfrm>
          <a:prstGeom prst="rect">
            <a:avLst/>
          </a:prstGeom>
          <a:solidFill>
            <a:srgbClr val="13322E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63347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764792" y="2633472"/>
            <a:ext cx="1298448" cy="365760"/>
          </a:xfrm>
          <a:prstGeom prst="rect">
            <a:avLst/>
          </a:prstGeom>
          <a:solidFill>
            <a:srgbClr val="13322E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64792" y="263347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Vulnerabilities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9544" y="2633472"/>
            <a:ext cx="1298448" cy="365760"/>
          </a:xfrm>
          <a:prstGeom prst="rect">
            <a:avLst/>
          </a:prstGeom>
          <a:solidFill>
            <a:srgbClr val="13322E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9544" y="263347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Exposure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54296" y="2633472"/>
            <a:ext cx="1298448" cy="365760"/>
          </a:xfrm>
          <a:prstGeom prst="rect">
            <a:avLst/>
          </a:prstGeom>
          <a:solidFill>
            <a:srgbClr val="13322E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54296" y="263347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Alerts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99048" y="2633472"/>
            <a:ext cx="1298448" cy="365760"/>
          </a:xfrm>
          <a:prstGeom prst="rect">
            <a:avLst/>
          </a:prstGeom>
          <a:solidFill>
            <a:srgbClr val="13322E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99048" y="263347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Scenarios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543800" y="2633472"/>
            <a:ext cx="1298448" cy="365760"/>
          </a:xfrm>
          <a:prstGeom prst="rect">
            <a:avLst/>
          </a:prstGeom>
          <a:solidFill>
            <a:srgbClr val="13322E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43800" y="263347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Patterns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20040" y="312724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demonstrates how the existing healthcare dataset can be transformed from simple visual reporting into a more advanced data-driven security decision-support system.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3822192"/>
            <a:ext cx="3657600" cy="658368"/>
          </a:xfrm>
          <a:prstGeom prst="rect">
            <a:avLst/>
          </a:prstGeom>
          <a:solidFill>
            <a:srgbClr val="13322E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38770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11480" y="41148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Kunal  •  Dinesh  •  Sarumathi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54880" y="37307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4754880" y="4297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interactive dashboard suite — from clean data to actionable security insight.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322E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•  Healthcare, Hospitality &amp; Security Trends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73252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2083</Words>
  <Application>Microsoft Office PowerPoint</Application>
  <PresentationFormat>On-screen Show (16:9)</PresentationFormat>
  <Paragraphs>328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kunal singh</cp:lastModifiedBy>
  <cp:revision>1</cp:revision>
  <dcterms:created xsi:type="dcterms:W3CDTF">2026-09-03T05:16:54Z</dcterms:created>
  <dcterms:modified xsi:type="dcterms:W3CDTF">2026-09-03T05:22:15Z</dcterms:modified>
</cp:coreProperties>
</file>